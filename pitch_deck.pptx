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3F5F8"/>
                </a:solidFill>
                <a:latin typeface="Arial"/>
              </a:defRPr>
            </a:pPr>
            <a:r>
              <a:t>IssueMatch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94484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3F5F8"/>
                </a:solidFill>
                <a:latin typeface="Arial"/>
              </a:defRPr>
            </a:pPr>
            <a:r>
              <a:t>Find the right open-source issue. Know exactly why it's safe to touch, who to ask, and what to say.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3200400"/>
            <a:ext cx="2834640" cy="1828800"/>
          </a:xfrm>
          <a:prstGeom prst="rect">
            <a:avLst/>
          </a:prstGeom>
          <a:solidFill>
            <a:srgbClr val="1215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3474720"/>
            <a:ext cx="2834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6366F1"/>
                </a:solidFill>
                <a:latin typeface="Courier New"/>
              </a:defRPr>
            </a:pPr>
            <a: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411480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8BEC9"/>
                </a:solidFill>
                <a:latin typeface="Arial"/>
              </a:defRPr>
            </a:pPr>
            <a:r>
              <a:t>AST Languages Parsed</a:t>
            </a:r>
            <a:br/>
            <a:r>
              <a:t>(Python, JS, TS, TSX)</a:t>
            </a:r>
          </a:p>
        </p:txBody>
      </p:sp>
      <p:sp>
        <p:nvSpPr>
          <p:cNvPr id="7" name="Rectangle 6"/>
          <p:cNvSpPr/>
          <p:nvPr/>
        </p:nvSpPr>
        <p:spPr>
          <a:xfrm>
            <a:off x="4663440" y="3200400"/>
            <a:ext cx="2834640" cy="1828800"/>
          </a:xfrm>
          <a:prstGeom prst="rect">
            <a:avLst/>
          </a:prstGeom>
          <a:solidFill>
            <a:srgbClr val="1215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63440" y="3474720"/>
            <a:ext cx="2834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6366F1"/>
                </a:solidFill>
                <a:latin typeface="Courier New"/>
              </a:defRPr>
            </a:pPr>
            <a:r>
              <a:t>100%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411480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8BEC9"/>
                </a:solidFill>
                <a:latin typeface="Arial"/>
              </a:defRPr>
            </a:pPr>
            <a:r>
              <a:t>Deterministic Metrics</a:t>
            </a:r>
            <a:br/>
            <a:r>
              <a:t>(0 External LLM Calls)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55279" y="3200400"/>
            <a:ext cx="2834640" cy="1828800"/>
          </a:xfrm>
          <a:prstGeom prst="rect">
            <a:avLst/>
          </a:prstGeom>
          <a:solidFill>
            <a:srgbClr val="1215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55279" y="3474720"/>
            <a:ext cx="2834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6366F1"/>
                </a:solidFill>
                <a:latin typeface="Courier New"/>
              </a:defRPr>
            </a:pPr>
            <a:r>
              <a:t>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0" y="411480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8BEC9"/>
                </a:solidFill>
                <a:latin typeface="Arial"/>
              </a:defRPr>
            </a:pPr>
            <a:r>
              <a:t>Hops Max on Blast Map</a:t>
            </a:r>
            <a:br/>
            <a:r>
              <a:t>(Transitive Fan-in BFS)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3F5F8"/>
                </a:solidFill>
                <a:latin typeface="Arial"/>
              </a:defRPr>
            </a:pPr>
            <a: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3F5F8"/>
                </a:solidFill>
                <a:latin typeface="Arial"/>
              </a:defRPr>
            </a:pPr>
            <a:r>
              <a:t>1. Misleading Tags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37744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EC9"/>
                </a:solidFill>
                <a:latin typeface="Arial"/>
              </a:defRPr>
            </a:pPr>
            <a:r>
              <a:t>GitHub 'good first issue' labels routinely hide 'Here Be Dragons' codebase complexity.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4747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3F5F8"/>
                </a:solidFill>
                <a:latin typeface="Arial"/>
              </a:defRPr>
            </a:pPr>
            <a:r>
              <a:t>2. Unseen Blast Radius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02336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EC9"/>
                </a:solidFill>
                <a:latin typeface="Arial"/>
              </a:defRPr>
            </a:pPr>
            <a:r>
              <a:t>Contributors start working blindly, unaware of deep transitive dependencies and high fan-in.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1206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3F5F8"/>
                </a:solidFill>
                <a:latin typeface="Arial"/>
              </a:defRPr>
            </a:pPr>
            <a:r>
              <a:t>3. Manual Context Transfer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66928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EC9"/>
                </a:solidFill>
                <a:latin typeface="Arial"/>
              </a:defRPr>
            </a:pPr>
            <a:r>
              <a:t>Maintainers waste hours answering 'where do I add the tests?' and 'who wrote this?'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0" y="1828800"/>
            <a:ext cx="5486400" cy="4389120"/>
          </a:xfrm>
          <a:prstGeom prst="rect">
            <a:avLst/>
          </a:prstGeom>
          <a:solidFill>
            <a:srgbClr val="1215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22860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  <a:latin typeface="Courier New"/>
              </a:defRPr>
            </a:pPr>
            <a:r>
              <a:t>EXPECTED</a:t>
            </a:r>
          </a:p>
        </p:txBody>
      </p:sp>
      <p:sp>
        <p:nvSpPr>
          <p:cNvPr id="11" name="Oval 10"/>
          <p:cNvSpPr/>
          <p:nvPr/>
        </p:nvSpPr>
        <p:spPr>
          <a:xfrm>
            <a:off x="6858000" y="2743200"/>
            <a:ext cx="731520" cy="731520"/>
          </a:xfrm>
          <a:prstGeom prst="ellipse">
            <a:avLst/>
          </a:prstGeom>
          <a:solidFill>
            <a:srgbClr val="1A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ight Arrow 11"/>
          <p:cNvSpPr/>
          <p:nvPr/>
        </p:nvSpPr>
        <p:spPr>
          <a:xfrm>
            <a:off x="7772400" y="3017520"/>
            <a:ext cx="548640" cy="182880"/>
          </a:xfrm>
          <a:prstGeom prst="rightArrow">
            <a:avLst/>
          </a:prstGeom>
          <a:solidFill>
            <a:srgbClr val="232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503920" y="2743200"/>
            <a:ext cx="731520" cy="731520"/>
          </a:xfrm>
          <a:prstGeom prst="ellipse">
            <a:avLst/>
          </a:prstGeom>
          <a:solidFill>
            <a:srgbClr val="1A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39319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43F5E"/>
                </a:solidFill>
                <a:latin typeface="Courier New"/>
              </a:defRPr>
            </a:pPr>
            <a:r>
              <a:t>REALITY</a:t>
            </a:r>
          </a:p>
        </p:txBody>
      </p:sp>
      <p:sp>
        <p:nvSpPr>
          <p:cNvPr id="15" name="Oval 14"/>
          <p:cNvSpPr/>
          <p:nvPr/>
        </p:nvSpPr>
        <p:spPr>
          <a:xfrm>
            <a:off x="6858000" y="4389120"/>
            <a:ext cx="731520" cy="731520"/>
          </a:xfrm>
          <a:prstGeom prst="ellipse">
            <a:avLst/>
          </a:prstGeom>
          <a:solidFill>
            <a:srgbClr val="1A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ight Arrow 15"/>
          <p:cNvSpPr/>
          <p:nvPr/>
        </p:nvSpPr>
        <p:spPr>
          <a:xfrm>
            <a:off x="7772400" y="3840480"/>
            <a:ext cx="548640" cy="182880"/>
          </a:xfrm>
          <a:prstGeom prst="rightArrow">
            <a:avLst/>
          </a:prstGeom>
          <a:solidFill>
            <a:srgbClr val="232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503920" y="3657600"/>
            <a:ext cx="548640" cy="548640"/>
          </a:xfrm>
          <a:prstGeom prst="ellipse">
            <a:avLst/>
          </a:prstGeom>
          <a:solidFill>
            <a:srgbClr val="1A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ight Arrow 17"/>
          <p:cNvSpPr/>
          <p:nvPr/>
        </p:nvSpPr>
        <p:spPr>
          <a:xfrm>
            <a:off x="7772400" y="4251960"/>
            <a:ext cx="548640" cy="182880"/>
          </a:xfrm>
          <a:prstGeom prst="rightArrow">
            <a:avLst/>
          </a:prstGeom>
          <a:solidFill>
            <a:srgbClr val="232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503920" y="4069080"/>
            <a:ext cx="548640" cy="548640"/>
          </a:xfrm>
          <a:prstGeom prst="ellipse">
            <a:avLst/>
          </a:prstGeom>
          <a:solidFill>
            <a:srgbClr val="1A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ight Arrow 19"/>
          <p:cNvSpPr/>
          <p:nvPr/>
        </p:nvSpPr>
        <p:spPr>
          <a:xfrm>
            <a:off x="7772400" y="4663440"/>
            <a:ext cx="548640" cy="182880"/>
          </a:xfrm>
          <a:prstGeom prst="rightArrow">
            <a:avLst/>
          </a:prstGeom>
          <a:solidFill>
            <a:srgbClr val="232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503920" y="4480560"/>
            <a:ext cx="548640" cy="548640"/>
          </a:xfrm>
          <a:prstGeom prst="ellipse">
            <a:avLst/>
          </a:prstGeom>
          <a:solidFill>
            <a:srgbClr val="1A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ight Arrow 21"/>
          <p:cNvSpPr/>
          <p:nvPr/>
        </p:nvSpPr>
        <p:spPr>
          <a:xfrm>
            <a:off x="9235440" y="3840480"/>
            <a:ext cx="548640" cy="182880"/>
          </a:xfrm>
          <a:prstGeom prst="rightArrow">
            <a:avLst/>
          </a:prstGeom>
          <a:solidFill>
            <a:srgbClr val="232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966960" y="3657600"/>
            <a:ext cx="548640" cy="548640"/>
          </a:xfrm>
          <a:prstGeom prst="ellipse">
            <a:avLst/>
          </a:prstGeom>
          <a:solidFill>
            <a:srgbClr val="1A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3F5F8"/>
                </a:solidFill>
                <a:latin typeface="Arial"/>
              </a:defRPr>
            </a:pPr>
            <a:r>
              <a:t>Why This, Why Now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3F5F8"/>
                </a:solidFill>
                <a:latin typeface="Arial"/>
              </a:defRPr>
            </a:pPr>
            <a:r>
              <a:t>The Gap: AI Guesses vs. Static Proof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3774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EC9"/>
                </a:solidFill>
                <a:latin typeface="Arial"/>
              </a:defRPr>
            </a:pPr>
            <a:r>
              <a:t>Current AI coding tools rely on LLM hallucinations for risk assessment. We use pure, deterministic tree-sitter AST parsing to mathematically prove the risk before a single line is written.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3474720"/>
            <a:ext cx="4846320" cy="2560320"/>
          </a:xfrm>
          <a:prstGeom prst="rect">
            <a:avLst/>
          </a:prstGeom>
          <a:solidFill>
            <a:srgbClr val="1215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3657600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43F5E"/>
                </a:solidFill>
                <a:latin typeface="Arial"/>
              </a:defRPr>
            </a:pPr>
            <a:r>
              <a:t>LLM Approach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4114800"/>
            <a:ext cx="42976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EC9"/>
                </a:solidFill>
                <a:latin typeface="Arial"/>
              </a:defRPr>
            </a:pPr>
            <a:r>
              <a:t>1. Opaque reasoning</a:t>
            </a:r>
            <a:br/>
            <a:r>
              <a:t>2. Prone to hallucinations</a:t>
            </a:r>
            <a:br/>
            <a:r>
              <a:t>3. Unbounded API latency</a:t>
            </a:r>
            <a:br/>
            <a:r>
              <a:t>4. Expensive token costs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3474720"/>
            <a:ext cx="4846320" cy="2560320"/>
          </a:xfrm>
          <a:prstGeom prst="rect">
            <a:avLst/>
          </a:prstGeom>
          <a:solidFill>
            <a:srgbClr val="1215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3657600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0B981"/>
                </a:solidFill>
                <a:latin typeface="Arial"/>
              </a:defRPr>
            </a:pPr>
            <a:r>
              <a:t>IssueMatch Approach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4114800"/>
            <a:ext cx="42976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EC9"/>
                </a:solidFill>
                <a:latin typeface="Arial"/>
              </a:defRPr>
            </a:pPr>
            <a:r>
              <a:t>1. 100% Deterministic AST</a:t>
            </a:r>
            <a:br/>
            <a:r>
              <a:t>2. 0 External API Calls</a:t>
            </a:r>
            <a:br/>
            <a:r>
              <a:t>3. Fast Local Caching (Redis)</a:t>
            </a:r>
            <a:br/>
            <a:r>
              <a:t>4. Transparent Formula Weights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3F5F8"/>
                </a:solidFill>
                <a:latin typeface="Arial"/>
              </a:defRPr>
            </a:pPr>
            <a:r>
              <a:t>The Three Pillars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2286000"/>
            <a:ext cx="3291840" cy="3200400"/>
          </a:xfrm>
          <a:prstGeom prst="roundRect">
            <a:avLst/>
          </a:prstGeom>
          <a:solidFill>
            <a:srgbClr val="1215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26517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366F1"/>
                </a:solidFill>
                <a:latin typeface="Courier New"/>
              </a:defRPr>
            </a:pPr>
            <a:r>
              <a:t>Pillar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31089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3F5F8"/>
                </a:solidFill>
                <a:latin typeface="Arial"/>
              </a:defRPr>
            </a:pPr>
            <a:r>
              <a:t>Static Risk Proof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3657600"/>
            <a:ext cx="2743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EC9"/>
                </a:solidFill>
                <a:latin typeface="Arial"/>
              </a:defRPr>
            </a:pPr>
            <a:r>
              <a:t>Deterministic blast radius from Fan-In (0.35), Complexity (0.30), Git Churn (0.15), and Test Proximity (0.20).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0" y="2286000"/>
            <a:ext cx="3291840" cy="3200400"/>
          </a:xfrm>
          <a:prstGeom prst="roundRect">
            <a:avLst/>
          </a:prstGeom>
          <a:solidFill>
            <a:srgbClr val="1215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0" y="26517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366F1"/>
                </a:solidFill>
                <a:latin typeface="Courier New"/>
              </a:defRPr>
            </a:pPr>
            <a:r>
              <a:t>Pillar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31089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3F5F8"/>
                </a:solidFill>
                <a:latin typeface="Arial"/>
              </a:defRPr>
            </a:pPr>
            <a:r>
              <a:t>Local Skill Match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3657600"/>
            <a:ext cx="2743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EC9"/>
                </a:solidFill>
                <a:latin typeface="Arial"/>
              </a:defRPr>
            </a:pPr>
            <a:r>
              <a:t>Cosine similarity ranking of issue text vs user skills using local sentence-transformers and TF-IDF terms.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2286000"/>
            <a:ext cx="3291840" cy="3200400"/>
          </a:xfrm>
          <a:prstGeom prst="roundRect">
            <a:avLst/>
          </a:prstGeom>
          <a:solidFill>
            <a:srgbClr val="1215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26517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366F1"/>
                </a:solidFill>
                <a:latin typeface="Courier New"/>
              </a:defRPr>
            </a:pPr>
            <a:r>
              <a:t>Pillar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31089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3F5F8"/>
                </a:solidFill>
                <a:latin typeface="Arial"/>
              </a:defRPr>
            </a:pPr>
            <a:r>
              <a:t>Playbook Gen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3657600"/>
            <a:ext cx="2743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EC9"/>
                </a:solidFill>
                <a:latin typeface="Arial"/>
              </a:defRPr>
            </a:pPr>
            <a:r>
              <a:t>Auto-drafts PR descriptions and branch names using real Git facts, bot-filtered commit authors, and test locs.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3F5F8"/>
                </a:solidFill>
                <a:latin typeface="Arial"/>
              </a:defRPr>
            </a:pPr>
            <a:r>
              <a:t>System Architecture: Pure Determinism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828800"/>
            <a:ext cx="11277295" cy="1371600"/>
          </a:xfrm>
          <a:prstGeom prst="rect">
            <a:avLst/>
          </a:prstGeom>
          <a:solidFill>
            <a:srgbClr val="1215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920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3F5F8"/>
                </a:solidFill>
                <a:latin typeface="Courier New"/>
              </a:defRPr>
            </a:pPr>
            <a:r>
              <a:t>INPUT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3383280"/>
            <a:ext cx="11277295" cy="1371600"/>
          </a:xfrm>
          <a:prstGeom prst="rect">
            <a:avLst/>
          </a:prstGeom>
          <a:solidFill>
            <a:srgbClr val="1A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34747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3F5F8"/>
                </a:solidFill>
                <a:latin typeface="Courier New"/>
              </a:defRPr>
            </a:pPr>
            <a:r>
              <a:t>ANALYSIS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4937760"/>
            <a:ext cx="11277295" cy="1371600"/>
          </a:xfrm>
          <a:prstGeom prst="rect">
            <a:avLst/>
          </a:prstGeom>
          <a:solidFill>
            <a:srgbClr val="232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50292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3F5F8"/>
                </a:solidFill>
                <a:latin typeface="Courier New"/>
              </a:defRPr>
            </a:pPr>
            <a:r>
              <a:t>OUTPUT</a:t>
            </a:r>
          </a:p>
        </p:txBody>
      </p:sp>
      <p:sp>
        <p:nvSpPr>
          <p:cNvPr id="9" name="Rectangle 8"/>
          <p:cNvSpPr/>
          <p:nvPr/>
        </p:nvSpPr>
        <p:spPr>
          <a:xfrm>
            <a:off x="1371600" y="2148840"/>
            <a:ext cx="2286000" cy="731520"/>
          </a:xfrm>
          <a:prstGeom prst="rect">
            <a:avLst/>
          </a:prstGeom>
          <a:solidFill>
            <a:srgbClr val="0A0C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63040" y="224028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8BEC9"/>
                </a:solidFill>
                <a:latin typeface="Courier New"/>
              </a:defRPr>
            </a:pPr>
            <a:r>
              <a:t>Git Clone</a:t>
            </a:r>
            <a:br/>
            <a:r>
              <a:t>(--filter=blob:none)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2148840"/>
            <a:ext cx="2743200" cy="731520"/>
          </a:xfrm>
          <a:prstGeom prst="rect">
            <a:avLst/>
          </a:prstGeom>
          <a:solidFill>
            <a:srgbClr val="0A0C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22402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8BEC9"/>
                </a:solidFill>
                <a:latin typeface="Courier New"/>
              </a:defRPr>
            </a:pPr>
            <a:r>
              <a:t>Repo Metadata</a:t>
            </a:r>
            <a:br/>
            <a:r>
              <a:t>(GitHub API)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0" y="2148840"/>
            <a:ext cx="2743200" cy="731520"/>
          </a:xfrm>
          <a:prstGeom prst="rect">
            <a:avLst/>
          </a:prstGeom>
          <a:solidFill>
            <a:srgbClr val="0A0C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22402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8BEC9"/>
                </a:solidFill>
                <a:latin typeface="Courier New"/>
              </a:defRPr>
            </a:pPr>
            <a:r>
              <a:t>Contributor Skills</a:t>
            </a:r>
            <a:br/>
            <a:r>
              <a:t>(Auth/Profile)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" y="3703320"/>
            <a:ext cx="2286000" cy="731520"/>
          </a:xfrm>
          <a:prstGeom prst="rect">
            <a:avLst/>
          </a:prstGeom>
          <a:solidFill>
            <a:srgbClr val="0A0C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3794759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8BEC9"/>
                </a:solidFill>
                <a:latin typeface="Courier New"/>
              </a:defRPr>
            </a:pPr>
            <a:r>
              <a:t>Tree-Sitter AST</a:t>
            </a:r>
            <a:br/>
            <a:r>
              <a:t>Function + Call Edges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0" y="3703320"/>
            <a:ext cx="2468880" cy="731520"/>
          </a:xfrm>
          <a:prstGeom prst="rect">
            <a:avLst/>
          </a:prstGeom>
          <a:solidFill>
            <a:srgbClr val="0A0C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749039" y="3794759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8BEC9"/>
                </a:solidFill>
                <a:latin typeface="Courier New"/>
              </a:defRPr>
            </a:pPr>
            <a:r>
              <a:t>Static Fact Extraction</a:t>
            </a:r>
            <a:br/>
            <a:r>
              <a:t>(Fan-in, Complexity, Git)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0" y="3703320"/>
            <a:ext cx="2286000" cy="731520"/>
          </a:xfrm>
          <a:prstGeom prst="rect">
            <a:avLst/>
          </a:prstGeom>
          <a:solidFill>
            <a:srgbClr val="0A0C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75120" y="3794759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8BEC9"/>
                </a:solidFill>
                <a:latin typeface="Courier New"/>
              </a:defRPr>
            </a:pPr>
            <a:r>
              <a:t>Formula Weights</a:t>
            </a:r>
            <a:br/>
            <a:r>
              <a:t>(0.35/0.30/0.20/0.15)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0" y="3703320"/>
            <a:ext cx="2286000" cy="731520"/>
          </a:xfrm>
          <a:prstGeom prst="rect">
            <a:avLst/>
          </a:prstGeom>
          <a:solidFill>
            <a:srgbClr val="0A0C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18319" y="3794759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8BEC9"/>
                </a:solidFill>
                <a:latin typeface="Courier New"/>
              </a:defRPr>
            </a:pPr>
            <a:r>
              <a:t>Local Embeddings</a:t>
            </a:r>
            <a:br/>
            <a:r>
              <a:t>TF-IDF &amp; sentence-trs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371600" y="5257800"/>
            <a:ext cx="2743200" cy="731520"/>
          </a:xfrm>
          <a:prstGeom prst="rect">
            <a:avLst/>
          </a:prstGeom>
          <a:solidFill>
            <a:srgbClr val="0A0C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463040" y="534924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8BEC9"/>
                </a:solidFill>
                <a:latin typeface="Courier New"/>
              </a:defRPr>
            </a:pPr>
            <a:r>
              <a:t>Blast Radius Score</a:t>
            </a:r>
            <a:br/>
            <a:r>
              <a:t>Start Here vs Dragons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754880" y="5257800"/>
            <a:ext cx="2743200" cy="731520"/>
          </a:xfrm>
          <a:prstGeom prst="rect">
            <a:avLst/>
          </a:prstGeom>
          <a:solidFill>
            <a:srgbClr val="0A0C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846320" y="534924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8BEC9"/>
                </a:solidFill>
                <a:latin typeface="Courier New"/>
              </a:defRPr>
            </a:pPr>
            <a:r>
              <a:t>First Merge Path</a:t>
            </a:r>
            <a:br/>
            <a:r>
              <a:t>(3 lowest risk functions)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138160" y="5257800"/>
            <a:ext cx="2743200" cy="731520"/>
          </a:xfrm>
          <a:prstGeom prst="rect">
            <a:avLst/>
          </a:prstGeom>
          <a:solidFill>
            <a:srgbClr val="0A0C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0" y="534924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8BEC9"/>
                </a:solidFill>
                <a:latin typeface="Courier New"/>
              </a:defRPr>
            </a:pPr>
            <a:r>
              <a:t>Actionable Playbook</a:t>
            </a:r>
            <a:br/>
            <a:r>
              <a:t>PR Drafts &amp; X-Refs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2514600" y="2880360"/>
            <a:ext cx="182880" cy="822960"/>
          </a:xfrm>
          <a:prstGeom prst="rightArrow">
            <a:avLst/>
          </a:prstGeom>
          <a:solidFill>
            <a:srgbClr val="1215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ight Arrow 29"/>
          <p:cNvSpPr/>
          <p:nvPr/>
        </p:nvSpPr>
        <p:spPr>
          <a:xfrm>
            <a:off x="5943600" y="2880360"/>
            <a:ext cx="182880" cy="822960"/>
          </a:xfrm>
          <a:prstGeom prst="rightArrow">
            <a:avLst/>
          </a:prstGeom>
          <a:solidFill>
            <a:srgbClr val="1215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ight Arrow 30"/>
          <p:cNvSpPr/>
          <p:nvPr/>
        </p:nvSpPr>
        <p:spPr>
          <a:xfrm>
            <a:off x="9601200" y="2880360"/>
            <a:ext cx="182880" cy="822960"/>
          </a:xfrm>
          <a:prstGeom prst="rightArrow">
            <a:avLst/>
          </a:prstGeom>
          <a:solidFill>
            <a:srgbClr val="1215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ight Arrow 31"/>
          <p:cNvSpPr/>
          <p:nvPr/>
        </p:nvSpPr>
        <p:spPr>
          <a:xfrm>
            <a:off x="3200400" y="3977639"/>
            <a:ext cx="457200" cy="182880"/>
          </a:xfrm>
          <a:prstGeom prst="rightArrow">
            <a:avLst/>
          </a:prstGeom>
          <a:solidFill>
            <a:srgbClr val="1215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ight Arrow 32"/>
          <p:cNvSpPr/>
          <p:nvPr/>
        </p:nvSpPr>
        <p:spPr>
          <a:xfrm>
            <a:off x="6126480" y="3977639"/>
            <a:ext cx="457200" cy="182880"/>
          </a:xfrm>
          <a:prstGeom prst="rightArrow">
            <a:avLst/>
          </a:prstGeom>
          <a:solidFill>
            <a:srgbClr val="1215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ight Arrow 33"/>
          <p:cNvSpPr/>
          <p:nvPr/>
        </p:nvSpPr>
        <p:spPr>
          <a:xfrm>
            <a:off x="8869680" y="3977639"/>
            <a:ext cx="457200" cy="182880"/>
          </a:xfrm>
          <a:prstGeom prst="rightArrow">
            <a:avLst/>
          </a:prstGeom>
          <a:solidFill>
            <a:srgbClr val="1215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3F5F8"/>
                </a:solidFill>
                <a:latin typeface="Arial"/>
              </a:defRPr>
            </a:pPr>
            <a:r>
              <a:t>The Stack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828800"/>
            <a:ext cx="10362895" cy="1188720"/>
          </a:xfrm>
          <a:prstGeom prst="rect">
            <a:avLst/>
          </a:prstGeom>
          <a:solidFill>
            <a:srgbClr val="1215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21945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3F5F8"/>
                </a:solidFill>
                <a:latin typeface="Arial"/>
              </a:defRPr>
            </a:pPr>
            <a:r>
              <a:t>Frontend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0" y="2011680"/>
            <a:ext cx="7315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366F1"/>
                </a:solidFill>
                <a:latin typeface="Courier New"/>
              </a:defRPr>
            </a:pPr>
            <a:r>
              <a:t>React 19 | Vite | TypeScript</a:t>
            </a:r>
            <a:br/>
            <a:r>
              <a:t>Tailwind CSS v4 | React Query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3474720"/>
            <a:ext cx="10362895" cy="1188720"/>
          </a:xfrm>
          <a:prstGeom prst="rect">
            <a:avLst/>
          </a:prstGeom>
          <a:solidFill>
            <a:srgbClr val="1A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38404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3F5F8"/>
                </a:solidFill>
                <a:latin typeface="Arial"/>
              </a:defRPr>
            </a:pPr>
            <a:r>
              <a:t>Backend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3657600"/>
            <a:ext cx="7772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366F1"/>
                </a:solidFill>
                <a:latin typeface="Courier New"/>
              </a:defRPr>
            </a:pPr>
            <a:r>
              <a:t>FastAPI | tree-sitter | sentence-transformers</a:t>
            </a:r>
            <a:br/>
            <a:r>
              <a:t>scikit-learn | spaCy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5120640"/>
            <a:ext cx="10362895" cy="1188720"/>
          </a:xfrm>
          <a:prstGeom prst="rect">
            <a:avLst/>
          </a:prstGeom>
          <a:solidFill>
            <a:srgbClr val="232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54864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3F5F8"/>
                </a:solidFill>
                <a:latin typeface="Arial"/>
              </a:defRPr>
            </a:pPr>
            <a:r>
              <a:t>Data &amp; Ops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5303520"/>
            <a:ext cx="7315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366F1"/>
                </a:solidFill>
                <a:latin typeface="Courier New"/>
              </a:defRPr>
            </a:pPr>
            <a:r>
              <a:t>PostgreSQL | Redis (1-hour TTL cache)</a:t>
            </a:r>
            <a:br/>
            <a:r>
              <a:t>Docker Compose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3F5F8"/>
                </a:solidFill>
                <a:latin typeface="Arial"/>
              </a:defRPr>
            </a:pPr>
            <a:r>
              <a:t>Inside the Engine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645920"/>
            <a:ext cx="10362895" cy="4754880"/>
          </a:xfrm>
          <a:prstGeom prst="rect">
            <a:avLst/>
          </a:prstGeom>
          <a:solidFill>
            <a:srgbClr val="1215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1645920"/>
            <a:ext cx="10362895" cy="548640"/>
          </a:xfrm>
          <a:prstGeom prst="rect">
            <a:avLst/>
          </a:prstGeom>
          <a:solidFill>
            <a:srgbClr val="1A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8BEC9"/>
                </a:solidFill>
                <a:latin typeface="Courier New"/>
              </a:defRPr>
            </a:pPr>
            <a:r>
              <a:t>api.github.com/repos/owner/name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2560320"/>
            <a:ext cx="4114800" cy="1097280"/>
          </a:xfrm>
          <a:prstGeom prst="roundRect">
            <a:avLst/>
          </a:prstGeom>
          <a:solidFill>
            <a:srgbClr val="1A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54480" y="27432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3F5F8"/>
                </a:solidFill>
                <a:latin typeface="Courier New"/>
              </a:defRPr>
            </a:pPr>
            <a:r>
              <a:t>auth_middleware()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3108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0B981"/>
                </a:solidFill>
                <a:latin typeface="Arial"/>
              </a:defRPr>
            </a:pPr>
            <a:r>
              <a:t>Blast Radius: START HERE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33832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8BEC9"/>
                </a:solidFill>
                <a:latin typeface="Arial"/>
              </a:defRPr>
            </a:pPr>
            <a:r>
              <a:t>2 callers, no branches, has a nearby test.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0" y="3931920"/>
            <a:ext cx="4114800" cy="1097280"/>
          </a:xfrm>
          <a:prstGeom prst="roundRect">
            <a:avLst/>
          </a:prstGeom>
          <a:solidFill>
            <a:srgbClr val="1A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554480" y="41148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3F5F8"/>
                </a:solidFill>
                <a:latin typeface="Courier New"/>
              </a:defRPr>
            </a:pPr>
            <a:r>
              <a:t>execute_query_unsafe()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44805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43F5E"/>
                </a:solidFill>
                <a:latin typeface="Arial"/>
              </a:defRPr>
            </a:pPr>
            <a:r>
              <a:t>Blast Radius: HERE BE DRAGONS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47548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8BEC9"/>
                </a:solidFill>
                <a:latin typeface="Arial"/>
              </a:defRPr>
            </a:pPr>
            <a:r>
              <a:t>45 callers, 12 branches, no tests nearby.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0" y="2560320"/>
            <a:ext cx="4846320" cy="2468880"/>
          </a:xfrm>
          <a:prstGeom prst="rect">
            <a:avLst/>
          </a:prstGeom>
          <a:solidFill>
            <a:srgbClr val="0A0C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6480" y="274320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3F5F8"/>
                </a:solidFill>
                <a:latin typeface="Arial"/>
              </a:defRPr>
            </a:pPr>
            <a:r>
              <a:t>Trust Panel Network Log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310896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0B981"/>
                </a:solidFill>
                <a:latin typeface="Courier New"/>
              </a:defRPr>
            </a:pPr>
            <a:r>
              <a:t>Host: api.github.com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0" y="338328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0B981"/>
                </a:solidFill>
                <a:latin typeface="Courier New"/>
              </a:defRPr>
            </a:pPr>
            <a:r>
              <a:t>Status: VERIFIED (0 EXTERNAL)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0" y="365760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8BEC9"/>
                </a:solidFill>
                <a:latin typeface="Courier New"/>
              </a:defRPr>
            </a:pPr>
            <a:r>
              <a:t>-----------------------------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0" y="393192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8BEC9"/>
                </a:solidFill>
                <a:latin typeface="Courier New"/>
              </a:defRPr>
            </a:pPr>
            <a:r>
              <a:t>Weights Array: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0" y="4206240"/>
            <a:ext cx="4389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8BEC9"/>
                </a:solidFill>
                <a:latin typeface="Courier New"/>
              </a:defRPr>
            </a:pPr>
            <a:r>
              <a:t>  fan_in: 0.35</a:t>
            </a:r>
            <a:br/>
            <a:r>
              <a:t>  complexity: 0.30</a:t>
            </a:r>
            <a:br/>
            <a:r>
              <a:t>  test_prox: 0.20</a:t>
            </a:r>
            <a:br/>
            <a:r>
              <a:t>  git_churn: 0.15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3F5F8"/>
                </a:solidFill>
                <a:latin typeface="Arial"/>
              </a:defRPr>
            </a:pPr>
            <a:r>
              <a:t>Why We Win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2011680"/>
            <a:ext cx="4754880" cy="1371600"/>
          </a:xfrm>
          <a:prstGeom prst="rect">
            <a:avLst/>
          </a:prstGeom>
          <a:solidFill>
            <a:srgbClr val="1215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219456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3F5F8"/>
                </a:solidFill>
                <a:latin typeface="Arial"/>
              </a:defRPr>
            </a:pPr>
            <a:r>
              <a:t>1. Structural Privacy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2651760"/>
            <a:ext cx="4206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8BEC9"/>
                </a:solidFill>
                <a:latin typeface="Arial"/>
              </a:defRPr>
            </a:pPr>
            <a:r>
              <a:t>Only ONE logged outbound HTTP route (GitHub). Falsifiable by codebase inspection.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6522415" y="2011680"/>
            <a:ext cx="4754880" cy="1371600"/>
          </a:xfrm>
          <a:prstGeom prst="rect">
            <a:avLst/>
          </a:prstGeom>
          <a:solidFill>
            <a:srgbClr val="1215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96735" y="219456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3F5F8"/>
                </a:solidFill>
                <a:latin typeface="Arial"/>
              </a:defRPr>
            </a:pPr>
            <a:r>
              <a:t>2. Real Code Context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96735" y="2651760"/>
            <a:ext cx="4206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8BEC9"/>
                </a:solidFill>
                <a:latin typeface="Arial"/>
              </a:defRPr>
            </a:pPr>
            <a:r>
              <a:t>Bot commits are stripped. Real human code owners are extracted and tagged.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3657600"/>
            <a:ext cx="4754880" cy="1371600"/>
          </a:xfrm>
          <a:prstGeom prst="rect">
            <a:avLst/>
          </a:prstGeom>
          <a:solidFill>
            <a:srgbClr val="1215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384048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3F5F8"/>
                </a:solidFill>
                <a:latin typeface="Arial"/>
              </a:defRPr>
            </a:pPr>
            <a:r>
              <a:t>3. True Determinism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4297680"/>
            <a:ext cx="4206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8BEC9"/>
                </a:solidFill>
                <a:latin typeface="Arial"/>
              </a:defRPr>
            </a:pPr>
            <a:r>
              <a:t>Not a single LLM call is made. Everything is calculated from static AST and Git history.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22415" y="3657600"/>
            <a:ext cx="4754880" cy="1371600"/>
          </a:xfrm>
          <a:prstGeom prst="rect">
            <a:avLst/>
          </a:prstGeom>
          <a:solidFill>
            <a:srgbClr val="1215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96735" y="384048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3F5F8"/>
                </a:solidFill>
                <a:latin typeface="Arial"/>
              </a:defRPr>
            </a:pPr>
            <a:r>
              <a:t>4. Fast Caching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96735" y="4297680"/>
            <a:ext cx="4206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8BEC9"/>
                </a:solidFill>
                <a:latin typeface="Arial"/>
              </a:defRPr>
            </a:pPr>
            <a:r>
              <a:t>Redis caches graph analyses (1-hr TTL). Subsequent queries are lightning fast.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66928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6366F1"/>
                </a:solidFill>
                <a:latin typeface="Arial"/>
              </a:defRPr>
            </a:pPr>
            <a:r>
              <a:t>Open Source needs proof, not promises.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
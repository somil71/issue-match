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NATIONAL HACKATHON STAGE  ·  OPEN-SOURCE DEV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4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4C9D4"/>
                </a:solidFill>
                <a:latin typeface="Arial"/>
              </a:rPr>
              <a:t>Proving code safety, scope risk, and developer readiness before editing a single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8A93A6"/>
                </a:solidFill>
                <a:latin typeface="Arial"/>
              </a:rPr>
              <a:t>A zero-LLM local static analysis compiler that parses AST call-graphs, evaluates test proximity, extracts commit owners, and semantically maps contributors to issues with live network transparency.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JetBrains Mono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External AI API Calls
(Falsifiable via live Trust Panel)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818CF8"/>
                </a:solidFill>
                <a:latin typeface="JetBrains Mono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AST &amp; Churn Signals
(Fan-in, Complexity, Test, Churn)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C084FC"/>
                </a:solidFill>
                <a:latin typeface="JetBrains Mono"/>
              </a:rPr>
              <a:t>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21208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Backend Pytests Passing
(100% true values, zero mocks)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The onboarding trust gap in open-source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43F5E"/>
                </a:solidFill>
                <a:latin typeface="JetBrains Mono"/>
              </a:rPr>
              <a:t>01 / LABELS ARE GUESSES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Vague “Good First Issue” labels are highly inaccurate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Maintainers manually apply beginner-friendly labels based on issue descriptions.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automatic checking of what functions or code lines the issue actually touches.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43F5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Beginners get assigned to functions with massive blast radii and complex call paths, leading to frustration and abandoned PRs.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JetBrains Mono"/>
              </a:rPr>
              <a:t>02 / BLIND MODIFICATION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Developers break code scope without pre-merge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Contributors discover high-risk dependencies after submitting breaking code.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Lack of local access to function fan-in complexity, git churn, or test coverage.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Failed CI test suites, massive regression risk, and hours wasted on review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03 / SILOED READINESS VETTING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5176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3F5F8"/>
                </a:solidFill>
                <a:latin typeface="Arial"/>
              </a:rPr>
              <a:t>Maintainers have no metric for contributor capability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Symptom: </a:t>
            </a:r>
            <a:r>
              <a:rPr sz="1200" b="0">
                <a:solidFill>
                  <a:srgbClr val="C4C9D4"/>
                </a:solidFill>
                <a:latin typeface="Arial"/>
              </a:rPr>
              <a:t>Assessing whether a contributor fits a codebase requires long historical review.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Root Cause: </a:t>
            </a:r>
            <a:r>
              <a:rPr sz="1200" b="0">
                <a:solidFill>
                  <a:srgbClr val="C4C9D4"/>
                </a:solidFill>
                <a:latin typeface="Arial"/>
              </a:rPr>
              <a:t>No programmatic skill-gap checking against the repo's manifests.
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Arial"/>
              </a:rPr>
              <a:t>Impact: </a:t>
            </a:r>
            <a:r>
              <a:rPr sz="1200" b="0">
                <a:solidFill>
                  <a:srgbClr val="C4C9D4"/>
                </a:solidFill>
                <a:latin typeface="Arial"/>
              </a:rPr>
              <a:t>Vague bio matching leads to mismatched tasks, slow reviews, and high maintainer fatigue.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MARKET &amp;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Why a static-analysis trust layer is critical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100M+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Active developers on GitHub creating open-source contributions daily.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28M+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Public repositories containing complex code hierarchies with minimal onboarding docs.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818CF8"/>
                </a:solidFill>
                <a:latin typeface="JetBrains Mono"/>
              </a:rPr>
              <a:t>70%+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3A6"/>
                </a:solidFill>
                <a:latin typeface="Arial"/>
              </a:rPr>
              <a:t>First-time PR abandonment rate due to initial scope miscalculation or review friction.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011680"/>
            <a:ext cx="12700" cy="402336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0" y="2011680"/>
            <a:ext cx="621792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2860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THE TRUST GAP  ·  THE LLM HYPERBOLE VS AST DETERMINISM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517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F5F8"/>
                </a:solidFill>
                <a:latin typeface="Arial"/>
              </a:rPr>
              <a:t>AI coding assistants are booming, but they are built as statistical LLM wrapper boxes. Hallucination makes them fundamentally untrustworthy for answering the critical question: 'Is this code safe to edit?'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4C9D4"/>
                </a:solidFill>
                <a:latin typeface="Arial"/>
              </a:rPr>
              <a:t>At the same time, running NLP embeddings and AST syntactic engines in-process on consumer CPUs has reached a performance tipping point. We can now compute repository blast graphs instantly without network delays or licensing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4526280"/>
            <a:ext cx="5669280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70916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The Next Era: Deterministic Static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07492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3A6"/>
                </a:solidFill>
                <a:latin typeface="Arial"/>
              </a:rPr>
              <a:t>IssueMatch AI replaces LLM guesses with math. We clone once, parse tree-sitter locally, compile scopes, and prove safety before the code is 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THE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Deterministic matching backed by static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4C9D4"/>
                </a:solidFill>
                <a:latin typeface="Arial"/>
              </a:rPr>
              <a:t>We compile code metrics, git history, and issue copy into mathematical alignment scores — with zero LLM dependence.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PILLAR 01 / AST METRIC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Blast Radius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A multi-language parser evaluates code files to calculate MCCabe complexity, cross-file reference fan-in, test file proximity, and commit churn.
These four signals are computed in one fast walk of the repository's syntax forest to compile a risk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PILLAR 02 / SEMANTIC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Local Semantic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Sentence-transformer embeddings run locally on CPU to compute similarity vectors between issue body text and developer skill listings.
TF-IDF vectors extract exact overlapping skill terminologies to verify the match and avoid black-box model guesswork.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291840" cy="402336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PILLAR 03 / STRUCTURAL TRUST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3F5F8"/>
                </a:solidFill>
                <a:latin typeface="Arial"/>
              </a:rPr>
              <a:t>Falsifiable Trust 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383280"/>
            <a:ext cx="27432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4C9D4"/>
                </a:solidFill>
                <a:latin typeface="Arial"/>
              </a:rPr>
              <a:t>We guarantee zero network dependencies. All outbound calls flow through one client interface.
A live browser panel verifies that only API requests to github.com are executed. If any other host is contacted, the console turns red immediately.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TECHNICAL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System data flow &amp; mathematical calculation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① CODE-RISK AST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3716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② NLP EMBEDDING &amp; SKILL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371600"/>
            <a:ext cx="12700" cy="393192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9659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965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Git fetch/clone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Filter blob:none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105914"/>
            <a:ext cx="2438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907792" y="2039112"/>
            <a:ext cx="109728" cy="146304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017520" y="1783080"/>
            <a:ext cx="219456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74519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tree-sitter grammar parse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scope call-graphs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Fan-in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84FC"/>
                </a:solidFill>
                <a:latin typeface="JetBrains Mono"/>
              </a:rPr>
              <a:t>x0.35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94460" y="2585974"/>
            <a:ext cx="27203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8811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32130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456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Complexity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2D3EE"/>
                </a:solidFill>
                <a:latin typeface="JetBrains Mono"/>
              </a:rPr>
              <a:t>x0.30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57500" y="2585974"/>
            <a:ext cx="125730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5115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278434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5760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Test proximity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0B981"/>
                </a:solidFill>
                <a:latin typeface="JetBrains Mono"/>
              </a:rPr>
              <a:t>x0.20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585974"/>
            <a:ext cx="20574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4190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sosceles Triangle 29"/>
          <p:cNvSpPr/>
          <p:nvPr/>
        </p:nvSpPr>
        <p:spPr>
          <a:xfrm rot="10800000">
            <a:off x="4247388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20640" y="2743200"/>
            <a:ext cx="1325880" cy="685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28163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3F5F8"/>
                </a:solidFill>
                <a:latin typeface="JetBrains Mono"/>
              </a:rPr>
              <a:t>Git churn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x0.15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08450" y="2441448"/>
            <a:ext cx="12700" cy="1508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2585974"/>
            <a:ext cx="1668779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77229" y="2592324"/>
            <a:ext cx="12700" cy="74676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5710427" y="263347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8811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5115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14190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77229" y="3429000"/>
            <a:ext cx="12700" cy="18288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94460" y="3605530"/>
            <a:ext cx="4389120" cy="1270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82670" y="3611880"/>
            <a:ext cx="12700" cy="243840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 rot="10800000">
            <a:off x="3515868" y="38221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394460" y="3931920"/>
            <a:ext cx="438912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94460" y="402336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Blast Radius Score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normalized weighted sum per function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82670" y="459028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3515868" y="473659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394460" y="4846320"/>
            <a:ext cx="4389120" cy="54864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4460" y="4983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JetBrains Mono"/>
              </a:rPr>
              <a:t>Score = 0.35(FanIn) + 0.30(CC) + 0.20(TestProx) + 0.15(Churn)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06640" y="17830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1874519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NLP parser (spaCy)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SVO dependency parsing &amp; skill tags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57690" y="24414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 rot="10800000">
            <a:off x="9390888" y="25877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06640" y="26974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27889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all-MiniLM-L6-v2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Local CPU embeddings matching issue text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57690" y="33558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 rot="10800000">
            <a:off x="9390888" y="35021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406640" y="36118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37033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Cosine overlap + TF-IDF matrix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Cosine rank with exact TF-IDF terms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57690" y="4270248"/>
            <a:ext cx="12700" cy="179832"/>
          </a:xfrm>
          <a:prstGeom prst="rect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 rot="10800000">
            <a:off x="9390888" y="4416552"/>
            <a:ext cx="146304" cy="109728"/>
          </a:xfrm>
          <a:prstGeom prst="triangle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406640" y="4526280"/>
            <a:ext cx="4114800" cy="658368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06640" y="46177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3F5F8"/>
                </a:solidFill>
                <a:latin typeface="JetBrains Mono"/>
              </a:rPr>
              <a:t>Readiness Score Calculator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2D3EE"/>
                </a:solidFill>
                <a:latin typeface="JetBrains Mono"/>
              </a:rPr>
              <a:t>0.40(Overlap) + 0.35(1-Risk) + 0.25(1/1+Gap)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14400" y="5779008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5568" y="566928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GUARANTEED COMPILATION VERACITY:
</a:t>
            </a:r>
            <a:r>
              <a:rPr sz="1200" b="0">
                <a:solidFill>
                  <a:srgbClr val="C4C9D4"/>
                </a:solidFill>
                <a:latin typeface="Arial"/>
              </a:rPr>
              <a:t>Every metric is traceable directly to an AST scope, a local cosine output, or a git commit. The live Trust Panel ensures the only external server contacted is api.github.com, rendering fake metrics or AI hallucinations impossible.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84FC"/>
                </a:solidFill>
                <a:latin typeface="JetBrains Mono"/>
              </a:rPr>
              <a:t>TECHNICAL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Layered technology stack &amp; local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18CF8"/>
                </a:solidFill>
                <a:latin typeface="JetBrains Mono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React 19  ·  Vite  ·  TypeScript  ·  Tailwind CSS v4  ·  React Query
</a:t>
            </a:r>
            <a:r>
              <a:rPr sz="1150" b="0">
                <a:solidFill>
                  <a:srgbClr val="8A93A6"/>
                </a:solidFill>
                <a:latin typeface="Arial"/>
              </a:rPr>
              <a:t>Responsive SPA with clean state caching, rendering live Blast Radius Maps via radial BFS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84FC"/>
                </a:solidFill>
                <a:latin typeface="JetBrains Mono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FastAPI  ·  tree-sitter  ·  sentence-transformers  ·  scikit-learn  ·  spaCy
</a:t>
            </a:r>
            <a:r>
              <a:rPr sz="1150" b="0">
                <a:solidFill>
                  <a:srgbClr val="8A93A6"/>
                </a:solidFill>
                <a:latin typeface="Arial"/>
              </a:rPr>
              <a:t>Asynchronous endpoints running local embeddings (MiniLM) and spaCy grammar trees entirely in-process on CPU.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79476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50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9476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PostgreSQL (users)  ·  Redis (per-repo analysis cache)
</a:t>
            </a:r>
            <a:r>
              <a:rPr sz="1150" b="0">
                <a:solidFill>
                  <a:srgbClr val="8A93A6"/>
                </a:solidFill>
                <a:latin typeface="Arial"/>
              </a:rPr>
              <a:t>PostgreSQL handles user profiles; Redis stores parsed call-graphs and repo facts (1-hour TTL) for O(1) matching.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728655" cy="8686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800600"/>
            <a:ext cx="18288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1215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9560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B981"/>
                </a:solidFill>
                <a:latin typeface="JetBrains Mono"/>
              </a:rPr>
              <a:t>TRUST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800600"/>
            <a:ext cx="8229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One instrumented HTTP client  →  api.github.com only, enforced live
</a:t>
            </a:r>
            <a:r>
              <a:rPr sz="1150" b="0">
                <a:solidFill>
                  <a:srgbClr val="8A93A6"/>
                </a:solidFill>
                <a:latin typeface="Arial"/>
              </a:rPr>
              <a:t>Custom decorator intercepts and logs HTTP requests, updating the Trust Panel and shutting down on unverified hosts.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3A6"/>
                </a:solidFill>
                <a:latin typeface="Arial"/>
              </a:rPr>
              <a:t>Optimized Docker build: The sentence-transformer and spaCy pipelines are baked into the Docker image at build time — zero startup downloads.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0B981"/>
                </a:solidFill>
                <a:latin typeface="JetBrains Mono"/>
              </a:rPr>
              <a:t>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Live interface walkthrough running on localhost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5720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4572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19072"/>
            <a:ext cx="109728" cy="109728"/>
          </a:xfrm>
          <a:prstGeom prst="ellipse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1719072"/>
            <a:ext cx="109728" cy="10972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719072"/>
            <a:ext cx="109728" cy="109728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6733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JetBrains Mono"/>
              </a:rPr>
              <a:t>localhost:5173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3F5F8"/>
                </a:solidFill>
                <a:latin typeface="Arial"/>
              </a:rPr>
              <a:t>IssueMatch</a:t>
            </a:r>
            <a:r>
              <a:rPr sz="1400" b="1">
                <a:solidFill>
                  <a:srgbClr val="818CF8"/>
                </a:solidFill>
                <a:latin typeface="Arial"/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18CF8"/>
                </a:solidFill>
                <a:latin typeface="Arial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2140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214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3A6"/>
                </a:solidFill>
                <a:latin typeface="Arial"/>
              </a:rPr>
              <a:t>Settings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10728655" cy="12700"/>
          </a:xfrm>
          <a:prstGeom prst="rect">
            <a:avLst/>
          </a:prstGeom>
          <a:solidFill>
            <a:srgbClr val="2D3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skill 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632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Arial"/>
              </a:rPr>
              <a:t>Compared against issue text via local sentence embeddings — no external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566160"/>
            <a:ext cx="731520" cy="22860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58444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python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3931920"/>
            <a:ext cx="4572000" cy="274320"/>
          </a:xfrm>
          <a:prstGeom prst="roundRect">
            <a:avLst/>
          </a:prstGeom>
          <a:solidFill>
            <a:srgbClr val="818CF8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95935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151D"/>
                </a:solidFill>
                <a:latin typeface="Arial"/>
              </a:rPr>
              <a:t>Save profile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51760"/>
            <a:ext cx="4937760" cy="16459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788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Blast Radius Engine — analyze a repo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3474720" cy="27432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18211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JetBrains Mono"/>
              </a:rPr>
              <a:t>pallets/itsdangerous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3154680"/>
            <a:ext cx="1005840" cy="27432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318211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3F5F8"/>
                </a:solidFill>
                <a:latin typeface="Arial"/>
              </a:rPr>
              <a:t>Analyze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66160"/>
            <a:ext cx="4572000" cy="59436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6118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3A6"/>
                </a:solidFill>
                <a:latin typeface="JetBrains Mono"/>
              </a:rPr>
              <a:t>pallets/itsdangerous @ </a:t>
            </a:r>
            <a:r>
              <a:rPr sz="900" b="0">
                <a:solidFill>
                  <a:srgbClr val="818CF8"/>
                </a:solidFill>
                <a:latin typeface="JetBrains Mono"/>
              </a:rPr>
              <a:t>4f2e1a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— 142 files, 892 functions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0B981"/>
                </a:solidFill>
                <a:latin typeface="JetBrains Mono"/>
              </a:rPr>
              <a:t>42 Start Here</a:t>
            </a:r>
            <a:r>
              <a:rPr sz="900" b="0">
                <a:solidFill>
                  <a:srgbClr val="8A93A6"/>
                </a:solidFill>
                <a:latin typeface="JetBrains Mono"/>
              </a:rPr>
              <a:t>  ·  </a:t>
            </a:r>
            <a:r>
              <a:rPr sz="900" b="1">
                <a:solidFill>
                  <a:srgbClr val="F43F5E"/>
                </a:solidFill>
                <a:latin typeface="JetBrains Mono"/>
              </a:rPr>
              <a:t>118 Here Be Dragons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Your readiness for this repo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4937760"/>
            <a:ext cx="685800" cy="685800"/>
          </a:xfrm>
          <a:prstGeom prst="ellipse">
            <a:avLst/>
          </a:prstGeom>
          <a:solidFill>
            <a:srgbClr val="12151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120640"/>
            <a:ext cx="685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93%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1389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6"/>
                </a:solidFill>
                <a:latin typeface="JetBrains Mono"/>
              </a:rPr>
              <a:t>0.40×skill overlap + 0.35×(1−risk) + 0.25×gap penalty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480560"/>
            <a:ext cx="4937760" cy="13716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617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3F5F8"/>
                </a:solidFill>
                <a:latin typeface="Arial"/>
              </a:rPr>
              <a:t>Codebase Landmarks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93776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98348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itsdangerous.serializer.Serializer.dumps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498348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142 callers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5349240"/>
            <a:ext cx="4572000" cy="320040"/>
          </a:xfrm>
          <a:prstGeom prst="roundRect">
            <a:avLst/>
          </a:prstGeom>
          <a:solidFill>
            <a:srgbClr val="12151D"/>
          </a:solidFill>
          <a:ln w="12700">
            <a:solidFill>
              <a:srgbClr val="2D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3949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18CF8"/>
                </a:solidFill>
                <a:latin typeface="JetBrains Mono"/>
              </a:rPr>
              <a:t>itsdangerous.jws.JSONWebSignatureSerializer.dumps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39496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93A6"/>
                </a:solidFill>
                <a:latin typeface="JetBrains Mono"/>
              </a:rPr>
              <a:t>89 callers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6446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3A6"/>
                </a:solidFill>
                <a:latin typeface="Arial"/>
              </a:rPr>
              <a:t>Real computed values — not a mock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JetBrains Mono"/>
              </a:rPr>
              <a:t>WHY WE WIN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3F5F8"/>
                </a:solidFill>
                <a:latin typeface="Arial"/>
              </a:rPr>
              <a:t>Deterministic verification roadmap &amp; differentiators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18CF8"/>
                </a:solidFill>
                <a:latin typeface="Arial"/>
              </a:rPr>
              <a:t>01 / Falsifiable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4C9D4"/>
                </a:solidFill>
                <a:latin typeface="Arial"/>
              </a:rPr>
              <a:t>A live Trust Panel dashboard proves zero external API calls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560320" cy="1828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18CF8"/>
                </a:solidFill>
                <a:latin typeface="Arial"/>
              </a:rPr>
              <a:t>02 / Scope-Aware Call Graphs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4C9D4"/>
                </a:solidFill>
                <a:latin typeface="Arial"/>
              </a:rPr>
              <a:t>McCabe complexity and transitive BFS graphs replace string-match guesses.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60320" cy="1828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18CF8"/>
                </a:solidFill>
                <a:latin typeface="Arial"/>
              </a:rPr>
              <a:t>03 / PR-Ready Playbooks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4C9D4"/>
                </a:solidFill>
                <a:latin typeface="Arial"/>
              </a:rPr>
              <a:t>Composed from git authorship (code owners), caller references, and test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3657600"/>
            <a:ext cx="2560320" cy="182880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18CF8"/>
                </a:solidFill>
                <a:latin typeface="Arial"/>
              </a:rPr>
              <a:t>04 / Local &amp; CPU Optimized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976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4C9D4"/>
                </a:solidFill>
                <a:latin typeface="Arial"/>
              </a:rPr>
              <a:t>Embeddings and parsing pipelines run locally inside Docker — free, fast, secure.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45920"/>
            <a:ext cx="5242255" cy="3840480"/>
          </a:xfrm>
          <a:prstGeom prst="roundRect">
            <a:avLst/>
          </a:prstGeom>
          <a:solidFill>
            <a:srgbClr val="1A1E2A"/>
          </a:solidFill>
          <a:ln w="12700">
            <a:solidFill>
              <a:srgbClr val="1A1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EE"/>
                </a:solidFill>
                <a:latin typeface="JetBrains Mono"/>
              </a:rPr>
              <a:t>FUTURE DEVELOPMENTS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46936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3F5F8"/>
                </a:solidFill>
                <a:latin typeface="JetBrains Mono"/>
              </a:rPr>
              <a:t>PHASE 1: CI/CD INTEGRATION GITHUB ACTIONS
</a:t>
            </a:r>
            <a:r>
              <a:rPr sz="1100" b="0">
                <a:solidFill>
                  <a:srgbClr val="8A93A6"/>
                </a:solidFill>
                <a:latin typeface="Arial"/>
              </a:rPr>
              <a:t>Deploy the compiler as a pre-commit check or a GitHub Action to verify PR scope safety and automatically assign reviewers by blast analysis.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6936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3F5F8"/>
                </a:solidFill>
                <a:latin typeface="JetBrains Mono"/>
              </a:rPr>
              <a:t>PHASE 2: COMPILED LANGUAGES (GO, RUST, JAVA)
</a:t>
            </a:r>
            <a:r>
              <a:rPr sz="1100" b="0">
                <a:solidFill>
                  <a:srgbClr val="8A93A6"/>
                </a:solidFill>
                <a:latin typeface="Arial"/>
              </a:rPr>
              <a:t>Write AST tree-sitter queries for typed compilation structures to map transitive scope-dependency graphs across microservices.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6936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3F5F8"/>
                </a:solidFill>
                <a:latin typeface="JetBrains Mono"/>
              </a:rPr>
              <a:t>PHASE 3: ENTERPRISE TRUST GATEWAYS
</a:t>
            </a:r>
            <a:r>
              <a:rPr sz="1100" b="0">
                <a:solidFill>
                  <a:srgbClr val="8A93A6"/>
                </a:solidFill>
                <a:latin typeface="Arial"/>
              </a:rPr>
              <a:t>Implement proxy boundaries for private enterprise clusters, securing workspace code scans within VPC networks.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Arial"/>
              </a:rPr>
              <a:t>IssueMatchAI  —  The static analysis compiler for human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
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JetBrains Mono"/>
              </a:rPr>
              <a:t>ZERO LLM CALLS  ·  PURE STATIC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3F5F8"/>
                </a:solidFill>
                <a:latin typeface="Arial"/>
              </a:rPr>
              <a:t>IssueMatch</a:t>
            </a:r>
            <a:r>
              <a:rPr sz="4000" b="1">
                <a:solidFill>
                  <a:srgbClr val="818CF8"/>
                </a:solidFill>
                <a:latin typeface="Arial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4C9D4"/>
                </a:solidFill>
                <a:latin typeface="Arial"/>
              </a:rPr>
              <a:t>Know exactly which issue is safe to touch — before you touch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484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Arial"/>
              </a:rPr>
              <a:t>A hackathon build that matches open-source contributors to issues, and proves code-touch risk with real tree-sitter parsing, call graphs, and git history — never a model's guess.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2D3EE"/>
                </a:solidFill>
                <a:latin typeface="JetBrains Mono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303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93A6"/>
                </a:solidFill>
                <a:latin typeface="Arial"/>
              </a:rPr>
              <a:t>external AI API calls
(Trust Panel verified)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45720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818CF8"/>
                </a:solidFill>
                <a:latin typeface="JetBrains Mono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5303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93A6"/>
                </a:solidFill>
                <a:latin typeface="Arial"/>
              </a:rPr>
              <a:t>real static-analysis signals
(fan-in, complexity, coverage, churn)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5720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C084FC"/>
                </a:solidFill>
                <a:latin typeface="JetBrains Mono"/>
              </a:rPr>
              <a:t>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5303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93A6"/>
                </a:solidFill>
                <a:latin typeface="Arial"/>
              </a:rPr>
              <a:t>tests, all against real values
(0 business logic mocks)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JetBrains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772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3F5F8"/>
                </a:solidFill>
                <a:latin typeface="Arial"/>
              </a:rPr>
              <a:t>Open source's onboarding problem is trust, not tooling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41148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43F5E"/>
                </a:solidFill>
                <a:latin typeface="JetBrains Mon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3F5F8"/>
                </a:solidFill>
                <a:latin typeface="Arial"/>
              </a:rPr>
              <a:t>“Good first issue” labels are hand-applied — and often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2743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C9D4"/>
                </a:solidFill>
                <a:latin typeface="Arial"/>
              </a:rPr>
              <a:t>They're set by a human glancing at an issue, not by looking at the code it actually touches. Some point straight at the riskiest, most-depended-on function in the whole repo.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41148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2860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JetBrains Mon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83464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3F5F8"/>
                </a:solidFill>
                <a:latin typeface="Arial"/>
              </a:rPr>
              <a:t>Contributors find out a function was unsafe after they've already broken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840480"/>
            <a:ext cx="2743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C9D4"/>
                </a:solidFill>
                <a:latin typeface="Arial"/>
              </a:rPr>
              <a:t>There's no way to see fan-in, complexity, or test coverage before you start editing — so the first real signal is a failing CI run or an annoyed maintainer.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011680"/>
            <a:ext cx="3291840" cy="41148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2860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2D3EE"/>
                </a:solidFill>
                <a:latin typeface="JetBrains Mono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83464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3F5F8"/>
                </a:solidFill>
                <a:latin typeface="Arial"/>
              </a:rPr>
              <a:t>Maintainers can't fast-vet a contributor against their repo's real 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840480"/>
            <a:ext cx="2743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C9D4"/>
                </a:solidFill>
                <a:latin typeface="Arial"/>
              </a:rPr>
              <a:t>Skill matching today means reading a bio and hoping. There's no repeatable, repo-specific way to ask “is this person actually ready for this codebase?”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84FC"/>
                </a:solidFill>
                <a:latin typeface="JetBrains Mono"/>
              </a:rPr>
              <a:t>MARKET &amp;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772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3F5F8"/>
                </a:solidFill>
                <a:latin typeface="Arial"/>
              </a:rPr>
              <a:t>The scale is enormous — and the trust gap is wide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818CF8"/>
                </a:solidFill>
                <a:latin typeface="JetBrains Mono"/>
              </a:rPr>
              <a:t>100M+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Arial"/>
              </a:rPr>
              <a:t>developers on 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818CF8"/>
                </a:solidFill>
                <a:latin typeface="JetBrains Mono"/>
              </a:rPr>
              <a:t>28M+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Arial"/>
              </a:rPr>
              <a:t>public repositories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818CF8"/>
                </a:solidFill>
                <a:latin typeface="JetBrains Mono"/>
              </a:rPr>
              <a:t>Millions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Arial"/>
              </a:rPr>
              <a:t>of “good first issue” PRs opened every year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011680"/>
            <a:ext cx="12700" cy="4023360"/>
          </a:xfrm>
          <a:prstGeom prst="rect">
            <a:avLst/>
          </a:prstGeom>
          <a:solidFill>
            <a:srgbClr val="2D3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6217920" cy="402336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228600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3F5F8"/>
                </a:solidFill>
                <a:latin typeface="Arial"/>
              </a:rPr>
              <a:t>AI coding tools are exploding — almost all of them are LLM wrappers.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017520"/>
            <a:ext cx="5669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C9D4"/>
                </a:solidFill>
                <a:latin typeface="Arial"/>
              </a:rPr>
              <a:t>That means hallucination risk on exactly the question that matters most for a first-time contributor: “is this safe to touch?” There is no widely-available, verifiable, non-LLM trust layer answering that question today.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4572000"/>
            <a:ext cx="5669280" cy="12700"/>
          </a:xfrm>
          <a:prstGeom prst="rect">
            <a:avLst/>
          </a:prstGeom>
          <a:solidFill>
            <a:srgbClr val="2D3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47548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rial"/>
              </a:rPr>
              <a:t>That's the gap IssueMatch AI is built to close.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521208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93A6"/>
                </a:solidFill>
                <a:latin typeface="Arial"/>
              </a:rPr>
              <a:t>Not another model guessing at code safety — a verifiable layer of real static analysis sitting underneath the recommendation.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JetBrains Mono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772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3F5F8"/>
                </a:solidFill>
                <a:latin typeface="Arial"/>
              </a:rPr>
              <a:t>Prove it, don't guess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4C9D4"/>
                </a:solidFill>
                <a:latin typeface="Arial"/>
              </a:rPr>
              <a:t>Every number on screen is either a formula you can see, or a fact read straight from git — never a model's guess.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291840" cy="402336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C084FC"/>
                </a:solidFill>
                <a:latin typeface="JetBrai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3F5F8"/>
                </a:solidFill>
                <a:latin typeface="Arial"/>
              </a:rPr>
              <a:t>Blast Radius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27432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C9D4"/>
                </a:solidFill>
                <a:latin typeface="Arial"/>
              </a:rPr>
              <a:t>Real tree-sitter parsing, call-graph fan-in, cyclomatic complexity, test proximity, and git churn — combined into one transparent, weighted score per function.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291840" cy="402336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3774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2D3EE"/>
                </a:solidFill>
                <a:latin typeface="JetBrains Mon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3F5F8"/>
                </a:solidFill>
                <a:latin typeface="Arial"/>
              </a:rPr>
              <a:t>Skill 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566160"/>
            <a:ext cx="27432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C9D4"/>
                </a:solidFill>
                <a:latin typeface="Arial"/>
              </a:rPr>
              <a:t>Local sentence-transformer embeddings rank open issues against a contributor's real skills. Every match shows the TF-IDF terms that actually drove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03120"/>
            <a:ext cx="3291840" cy="402336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3774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818CF8"/>
                </a:solidFill>
                <a:latin typeface="JetBrains Mono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92608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3F5F8"/>
                </a:solidFill>
                <a:latin typeface="Arial"/>
              </a:rPr>
              <a:t>Zero-LLM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66160"/>
            <a:ext cx="27432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C9D4"/>
                </a:solidFill>
                <a:latin typeface="Arial"/>
              </a:rPr>
              <a:t>Every outbound call this backend makes is routed through one instrumented function. A live panel shows exactly which hosts were contacted — provable, not just promised.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JetBrains Mono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772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3F5F8"/>
                </a:solidFill>
                <a:latin typeface="Arial"/>
              </a:rPr>
              <a:t>One clone, two computed outputs — no model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84FC"/>
                </a:solidFill>
                <a:latin typeface="JetBrains Mono"/>
              </a:rPr>
              <a:t>① CODE-RISK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0" y="1371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JetBrains Mono"/>
              </a:rPr>
              <a:t>② ISSUE-MATCHING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0" y="1371600"/>
            <a:ext cx="12700" cy="4023360"/>
          </a:xfrm>
          <a:prstGeom prst="rect">
            <a:avLst/>
          </a:prstGeom>
          <a:solidFill>
            <a:srgbClr val="2D3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1965960" cy="658368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3F5F8"/>
                </a:solidFill>
                <a:latin typeface="JetBrains Mono"/>
              </a:rPr>
              <a:t>Point at a repo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Arial"/>
              </a:rPr>
              <a:t>partial clone · full history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2105914"/>
            <a:ext cx="243840" cy="127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2907792" y="2039112"/>
            <a:ext cx="109728" cy="146304"/>
          </a:xfrm>
          <a:prstGeom prst="triangle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783080"/>
            <a:ext cx="2194560" cy="658368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874519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3F5F8"/>
                </a:solidFill>
                <a:latin typeface="JetBrains Mono"/>
              </a:rPr>
              <a:t>tree-sitter AST parse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Arial"/>
              </a:rPr>
              <a:t>Python · JS · TS · TSX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1325880" cy="6858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3F5F8"/>
                </a:solidFill>
                <a:latin typeface="JetBrains Mono"/>
              </a:rPr>
              <a:t>Fan-in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84FC"/>
                </a:solidFill>
                <a:latin typeface="JetBrains Mono"/>
              </a:rPr>
              <a:t>×0.35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8450" y="2441448"/>
            <a:ext cx="12700" cy="150876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94460" y="2585974"/>
            <a:ext cx="2720340" cy="127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88110" y="2592324"/>
            <a:ext cx="12700" cy="74676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10800000">
            <a:off x="1321308" y="2633472"/>
            <a:ext cx="146304" cy="109728"/>
          </a:xfrm>
          <a:prstGeom prst="triangle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94560" y="2743200"/>
            <a:ext cx="1325880" cy="6858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2816352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3F5F8"/>
                </a:solidFill>
                <a:latin typeface="JetBrains Mono"/>
              </a:rPr>
              <a:t>Complexity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JetBrains Mono"/>
              </a:rPr>
              <a:t>×0.30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08450" y="2441448"/>
            <a:ext cx="12700" cy="150876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57500" y="2585974"/>
            <a:ext cx="1257300" cy="127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51150" y="2592324"/>
            <a:ext cx="12700" cy="74676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Isosceles Triangle 23"/>
          <p:cNvSpPr/>
          <p:nvPr/>
        </p:nvSpPr>
        <p:spPr>
          <a:xfrm rot="10800000">
            <a:off x="2784348" y="2633472"/>
            <a:ext cx="146304" cy="109728"/>
          </a:xfrm>
          <a:prstGeom prst="triangle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57600" y="2743200"/>
            <a:ext cx="1325880" cy="6858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2816352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3F5F8"/>
                </a:solidFill>
                <a:latin typeface="JetBrains Mono"/>
              </a:rPr>
              <a:t>Test proximity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JetBrains Mono"/>
              </a:rPr>
              <a:t>×0.20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08450" y="2441448"/>
            <a:ext cx="12700" cy="150876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0" y="2585974"/>
            <a:ext cx="205740" cy="127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4190" y="2592324"/>
            <a:ext cx="12700" cy="74676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 rot="10800000">
            <a:off x="4247388" y="2633472"/>
            <a:ext cx="146304" cy="109728"/>
          </a:xfrm>
          <a:prstGeom prst="triangle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20640" y="2743200"/>
            <a:ext cx="1325880" cy="6858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2816352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3F5F8"/>
                </a:solidFill>
                <a:latin typeface="JetBrains Mono"/>
              </a:rPr>
              <a:t>Git churn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18CF8"/>
                </a:solidFill>
                <a:latin typeface="JetBrains Mono"/>
              </a:rPr>
              <a:t>×0.15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08450" y="2441448"/>
            <a:ext cx="12700" cy="150876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0" y="2585974"/>
            <a:ext cx="1668779" cy="127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77229" y="2592324"/>
            <a:ext cx="12700" cy="74676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Isosceles Triangle 35"/>
          <p:cNvSpPr/>
          <p:nvPr/>
        </p:nvSpPr>
        <p:spPr>
          <a:xfrm rot="10800000">
            <a:off x="5710427" y="2633472"/>
            <a:ext cx="146304" cy="109728"/>
          </a:xfrm>
          <a:prstGeom prst="triangle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88110" y="3429000"/>
            <a:ext cx="12700" cy="18288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51150" y="3429000"/>
            <a:ext cx="12700" cy="18288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4190" y="3429000"/>
            <a:ext cx="12700" cy="18288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77229" y="3429000"/>
            <a:ext cx="12700" cy="18288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94460" y="3605530"/>
            <a:ext cx="4389120" cy="127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582670" y="3611880"/>
            <a:ext cx="12700" cy="24384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sosceles Triangle 42"/>
          <p:cNvSpPr/>
          <p:nvPr/>
        </p:nvSpPr>
        <p:spPr>
          <a:xfrm rot="10800000">
            <a:off x="3515868" y="3822192"/>
            <a:ext cx="146304" cy="109728"/>
          </a:xfrm>
          <a:prstGeom prst="triangle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394460" y="3931920"/>
            <a:ext cx="4389120" cy="658368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94460" y="402336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3F5F8"/>
                </a:solidFill>
                <a:latin typeface="JetBrains Mono"/>
              </a:rPr>
              <a:t>Blast Radius Score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Arial"/>
              </a:rPr>
              <a:t>weighted sum, normalized across the repo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82670" y="4590288"/>
            <a:ext cx="12700" cy="271272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0800000">
            <a:off x="3515868" y="4828032"/>
            <a:ext cx="146304" cy="109728"/>
          </a:xfrm>
          <a:prstGeom prst="triangle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94460" y="4937760"/>
            <a:ext cx="4389120" cy="658368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94460" y="502920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JetBrains Mono"/>
              </a:rPr>
              <a:t>Start Here</a:t>
            </a:r>
            <a:r>
              <a:rPr sz="1100" b="1">
                <a:solidFill>
                  <a:srgbClr val="F3F5F8"/>
                </a:solidFill>
                <a:latin typeface="JetBrains Mono"/>
              </a:rPr>
              <a:t>  /  </a:t>
            </a:r>
            <a:r>
              <a:rPr sz="1100" b="1">
                <a:solidFill>
                  <a:srgbClr val="F43F5E"/>
                </a:solidFill>
                <a:latin typeface="JetBrains Mono"/>
              </a:rPr>
              <a:t>Here Be Dragons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Arial"/>
              </a:rPr>
              <a:t>boundary = your risk-tolerance slider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406640" y="1783080"/>
            <a:ext cx="4114800" cy="658368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06640" y="1874519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3F5F8"/>
                </a:solidFill>
                <a:latin typeface="JetBrains Mono"/>
              </a:rPr>
              <a:t>Open issues + your skills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Arial"/>
              </a:rPr>
              <a:t>GitHub API · your repos' languages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57690" y="2441448"/>
            <a:ext cx="12700" cy="179832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Isosceles Triangle 52"/>
          <p:cNvSpPr/>
          <p:nvPr/>
        </p:nvSpPr>
        <p:spPr>
          <a:xfrm rot="10800000">
            <a:off x="9390888" y="2587752"/>
            <a:ext cx="146304" cy="109728"/>
          </a:xfrm>
          <a:prstGeom prst="triangle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406640" y="2697480"/>
            <a:ext cx="4114800" cy="658368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06640" y="278892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3F5F8"/>
                </a:solidFill>
                <a:latin typeface="JetBrains Mono"/>
              </a:rPr>
              <a:t>Local embeddings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Arial"/>
              </a:rPr>
              <a:t>all-MiniLM-L6-v2 · on CPU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57690" y="3355848"/>
            <a:ext cx="12700" cy="179832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Isosceles Triangle 56"/>
          <p:cNvSpPr/>
          <p:nvPr/>
        </p:nvSpPr>
        <p:spPr>
          <a:xfrm rot="10800000">
            <a:off x="9390888" y="3502152"/>
            <a:ext cx="146304" cy="109728"/>
          </a:xfrm>
          <a:prstGeom prst="triangle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406640" y="3611880"/>
            <a:ext cx="4114800" cy="658368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6640" y="370332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3F5F8"/>
                </a:solidFill>
                <a:latin typeface="JetBrains Mono"/>
              </a:rPr>
              <a:t>Cosine similarity + TF-IDF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Arial"/>
              </a:rPr>
              <a:t>ranked, with real overlap terms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57690" y="4270248"/>
            <a:ext cx="12700" cy="179832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Isosceles Triangle 60"/>
          <p:cNvSpPr/>
          <p:nvPr/>
        </p:nvSpPr>
        <p:spPr>
          <a:xfrm rot="10800000">
            <a:off x="9390888" y="4416552"/>
            <a:ext cx="146304" cy="109728"/>
          </a:xfrm>
          <a:prstGeom prst="triangle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406640" y="4526280"/>
            <a:ext cx="4114800" cy="658368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0" y="461772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3F5F8"/>
                </a:solidFill>
                <a:latin typeface="JetBrains Mono"/>
              </a:rPr>
              <a:t>Ranked matches + drafted comment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Arial"/>
              </a:rPr>
              <a:t>real git authorship · PR-ready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12151D"/>
          </a:solidFill>
          <a:ln w="12700">
            <a:solidFill>
              <a:srgbClr val="121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14400" y="6099048"/>
            <a:ext cx="109728" cy="10972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15568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4C9D4"/>
                </a:solidFill>
                <a:latin typeface="Arial"/>
              </a:rPr>
              <a:t>Zero external AI calls in either lane — the only outbound network request anywhere is to api.github.com, enforced by one instrumented client.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84FC"/>
                </a:solidFill>
                <a:latin typeface="JetBrains Mono"/>
              </a:rP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772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3F5F8"/>
                </a:solidFill>
                <a:latin typeface="Arial"/>
              </a:rPr>
              <a:t>A stack chosen for real analysis, not API calls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82296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783080"/>
            <a:ext cx="1828800" cy="548640"/>
          </a:xfrm>
          <a:prstGeom prst="roundRect">
            <a:avLst/>
          </a:prstGeom>
          <a:solidFill>
            <a:srgbClr val="12151D"/>
          </a:solidFill>
          <a:ln w="12700">
            <a:solidFill>
              <a:srgbClr val="121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JetBrains Mono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20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4C9D4"/>
                </a:solidFill>
                <a:latin typeface="Arial"/>
              </a:rPr>
              <a:t>React 19  ·  Vite  ·  TypeScript  ·  Tailwind CSS v4  ·  React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10728655" cy="82296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788920"/>
            <a:ext cx="1828800" cy="548640"/>
          </a:xfrm>
          <a:prstGeom prst="roundRect">
            <a:avLst/>
          </a:prstGeom>
          <a:solidFill>
            <a:srgbClr val="12151D"/>
          </a:solidFill>
          <a:ln w="12700">
            <a:solidFill>
              <a:srgbClr val="121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7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84FC"/>
                </a:solidFill>
                <a:latin typeface="JetBrains Mono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79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4C9D4"/>
                </a:solidFill>
                <a:latin typeface="Arial"/>
              </a:rPr>
              <a:t>FastAPI  ·  tree-sitter  ·  sentence-transformers  ·  scikit-learn  ·  spaCy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10728655" cy="82296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3794760"/>
            <a:ext cx="1828800" cy="548640"/>
          </a:xfrm>
          <a:prstGeom prst="roundRect">
            <a:avLst/>
          </a:prstGeom>
          <a:solidFill>
            <a:srgbClr val="12151D"/>
          </a:solidFill>
          <a:ln w="12700">
            <a:solidFill>
              <a:srgbClr val="121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JetBrains Mono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931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4C9D4"/>
                </a:solidFill>
                <a:latin typeface="Arial"/>
              </a:rPr>
              <a:t>PostgreSQL (users)  ·  Redis (per-repo analysis cache)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63440"/>
            <a:ext cx="10728655" cy="82296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800600"/>
            <a:ext cx="1828800" cy="548640"/>
          </a:xfrm>
          <a:prstGeom prst="roundRect">
            <a:avLst/>
          </a:prstGeom>
          <a:solidFill>
            <a:srgbClr val="12151D"/>
          </a:solidFill>
          <a:ln w="12700">
            <a:solidFill>
              <a:srgbClr val="121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93775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JetBrains Mono"/>
              </a:rPr>
              <a:t>TRUST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937759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4C9D4"/>
                </a:solidFill>
                <a:latin typeface="Arial"/>
              </a:rPr>
              <a:t>One instrumented HTTP client  →  api.github.com only, enforced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3A6"/>
                </a:solidFill>
                <a:latin typeface="Arial"/>
              </a:rPr>
              <a:t>The backend image bakes the embedding model and spaCy pipeline in at build time — zero model downloads at request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JetBrains Mono"/>
              </a:rPr>
              <a:t>PRODUCT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772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3F5F8"/>
                </a:solidFill>
                <a:latin typeface="Arial"/>
              </a:rPr>
              <a:t>What it actually looks like, running against a real repo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4572000"/>
          </a:xfrm>
          <a:prstGeom prst="roundRect">
            <a:avLst/>
          </a:prstGeom>
          <a:solidFill>
            <a:srgbClr val="12151D"/>
          </a:solidFill>
          <a:ln w="12700">
            <a:solidFill>
              <a:srgbClr val="2D3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8655" cy="4572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719072"/>
            <a:ext cx="109728" cy="109728"/>
          </a:xfrm>
          <a:prstGeom prst="ellipse">
            <a:avLst/>
          </a:prstGeom>
          <a:solidFill>
            <a:srgbClr val="F43F5E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" y="1719072"/>
            <a:ext cx="109728" cy="10972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16736" y="1719072"/>
            <a:ext cx="109728" cy="10972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16733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JetBrains Mono"/>
              </a:rPr>
              <a:t>localhost:5173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03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3F5F8"/>
                </a:solidFill>
                <a:latin typeface="Arial"/>
              </a:rPr>
              <a:t>IssueMatch</a:t>
            </a:r>
            <a:r>
              <a:rPr sz="1400" b="1">
                <a:solidFill>
                  <a:srgbClr val="818CF8"/>
                </a:solidFill>
                <a:latin typeface="Arial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12140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18CF8"/>
                </a:solidFill>
                <a:latin typeface="Arial"/>
              </a:rP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12140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Arial"/>
              </a:rPr>
              <a:t>How it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212140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Arial"/>
              </a:rPr>
              <a:t>Settings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68880"/>
            <a:ext cx="10728655" cy="12700"/>
          </a:xfrm>
          <a:prstGeom prst="rect">
            <a:avLst/>
          </a:prstGeom>
          <a:solidFill>
            <a:srgbClr val="2D3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2651760"/>
            <a:ext cx="4937760" cy="164592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2D3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788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5F8"/>
                </a:solidFill>
                <a:latin typeface="Arial"/>
              </a:rPr>
              <a:t>Your skill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06324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Arial"/>
              </a:rPr>
              <a:t>Compared against issue text via local sentence embeddings — no external API.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3566160"/>
            <a:ext cx="731520" cy="228600"/>
          </a:xfrm>
          <a:prstGeom prst="roundRect">
            <a:avLst/>
          </a:prstGeom>
          <a:solidFill>
            <a:srgbClr val="12151D"/>
          </a:solidFill>
          <a:ln w="12700">
            <a:solidFill>
              <a:srgbClr val="2D3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58444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18CF8"/>
                </a:solidFill>
                <a:latin typeface="JetBrains Mono"/>
              </a:rPr>
              <a:t>python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8720" y="3931920"/>
            <a:ext cx="4572000" cy="274320"/>
          </a:xfrm>
          <a:prstGeom prst="roundRect">
            <a:avLst/>
          </a:prstGeom>
          <a:solidFill>
            <a:srgbClr val="818CF8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95935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151D"/>
                </a:solidFill>
                <a:latin typeface="Arial"/>
              </a:rPr>
              <a:t>Save profile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651760"/>
            <a:ext cx="4937760" cy="164592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2D3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788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5F8"/>
                </a:solidFill>
                <a:latin typeface="Arial"/>
              </a:rPr>
              <a:t>Blast Radius Engine — analyze a repo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154680"/>
            <a:ext cx="3474720" cy="274320"/>
          </a:xfrm>
          <a:prstGeom prst="roundRect">
            <a:avLst/>
          </a:prstGeom>
          <a:solidFill>
            <a:srgbClr val="12151D"/>
          </a:solidFill>
          <a:ln w="12700">
            <a:solidFill>
              <a:srgbClr val="2D3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18211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3F5F8"/>
                </a:solidFill>
                <a:latin typeface="JetBrains Mono"/>
              </a:rPr>
              <a:t>pallets/itsdangerous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66960" y="3154680"/>
            <a:ext cx="1005840" cy="27432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2D3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0" y="3182112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3F5F8"/>
                </a:solidFill>
                <a:latin typeface="Arial"/>
              </a:rPr>
              <a:t>Analyze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566160"/>
            <a:ext cx="4572000" cy="594360"/>
          </a:xfrm>
          <a:prstGeom prst="roundRect">
            <a:avLst/>
          </a:prstGeom>
          <a:solidFill>
            <a:srgbClr val="12151D"/>
          </a:solidFill>
          <a:ln w="12700">
            <a:solidFill>
              <a:srgbClr val="2D3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61188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JetBrains Mono"/>
              </a:rPr>
              <a:t>pallets/itsdangerous @ </a:t>
            </a:r>
            <a:r>
              <a:rPr sz="900" b="0">
                <a:solidFill>
                  <a:srgbClr val="818CF8"/>
                </a:solidFill>
                <a:latin typeface="JetBrains Mono"/>
              </a:rPr>
              <a:t>4f2e1a</a:t>
            </a:r>
            <a:r>
              <a:rPr sz="900" b="0">
                <a:solidFill>
                  <a:srgbClr val="8A93A6"/>
                </a:solidFill>
                <a:latin typeface="JetBrains Mono"/>
              </a:rPr>
              <a:t> — 142 files, 892 functions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B981"/>
                </a:solidFill>
                <a:latin typeface="JetBrains Mono"/>
              </a:rPr>
              <a:t>42 Start Here</a:t>
            </a:r>
            <a:r>
              <a:rPr sz="900" b="0">
                <a:solidFill>
                  <a:srgbClr val="8A93A6"/>
                </a:solidFill>
                <a:latin typeface="JetBrains Mono"/>
              </a:rPr>
              <a:t>  ·  </a:t>
            </a:r>
            <a:r>
              <a:rPr sz="900" b="1">
                <a:solidFill>
                  <a:srgbClr val="F43F5E"/>
                </a:solidFill>
                <a:latin typeface="JetBrains Mono"/>
              </a:rPr>
              <a:t>118 Here Be Dragons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4480560"/>
            <a:ext cx="4937760" cy="13716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2D3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46177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5F8"/>
                </a:solidFill>
                <a:latin typeface="Arial"/>
              </a:rPr>
              <a:t>Your readiness for this repo</a:t>
            </a:r>
          </a:p>
        </p:txBody>
      </p:sp>
      <p:sp>
        <p:nvSpPr>
          <p:cNvPr id="32" name="Oval 31"/>
          <p:cNvSpPr/>
          <p:nvPr/>
        </p:nvSpPr>
        <p:spPr>
          <a:xfrm>
            <a:off x="1188720" y="4937760"/>
            <a:ext cx="685800" cy="685800"/>
          </a:xfrm>
          <a:prstGeom prst="ellipse">
            <a:avLst/>
          </a:prstGeom>
          <a:solidFill>
            <a:srgbClr val="12151D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120640"/>
            <a:ext cx="685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93%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513892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A93A6"/>
                </a:solidFill>
                <a:latin typeface="JetBrains Mono"/>
              </a:rPr>
              <a:t>0.40×skill overlap + 0.35×(1−risk) + 0.25×gap penalty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480560"/>
            <a:ext cx="4937760" cy="13716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2D3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177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5F8"/>
                </a:solidFill>
                <a:latin typeface="Arial"/>
              </a:rPr>
              <a:t>Codebase Landmarks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4937760"/>
            <a:ext cx="4572000" cy="320040"/>
          </a:xfrm>
          <a:prstGeom prst="roundRect">
            <a:avLst/>
          </a:prstGeom>
          <a:solidFill>
            <a:srgbClr val="12151D"/>
          </a:solidFill>
          <a:ln w="12700">
            <a:solidFill>
              <a:srgbClr val="2D3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498348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18CF8"/>
                </a:solidFill>
                <a:latin typeface="JetBrains Mono"/>
              </a:rPr>
              <a:t>itsdangerous.serializer.Serializer.dumps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498348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3A6"/>
                </a:solidFill>
                <a:latin typeface="JetBrains Mono"/>
              </a:rPr>
              <a:t>142 callers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5349240"/>
            <a:ext cx="4572000" cy="320040"/>
          </a:xfrm>
          <a:prstGeom prst="roundRect">
            <a:avLst/>
          </a:prstGeom>
          <a:solidFill>
            <a:srgbClr val="12151D"/>
          </a:solidFill>
          <a:ln w="12700">
            <a:solidFill>
              <a:srgbClr val="2D3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53949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18CF8"/>
                </a:solidFill>
                <a:latin typeface="JetBrains Mono"/>
              </a:rPr>
              <a:t>itsdangerous.jws.JSONWebSignatureSerializer.dumps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53949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3A6"/>
                </a:solidFill>
                <a:latin typeface="JetBrains Mono"/>
              </a:rPr>
              <a:t>89 callers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6446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93A6"/>
                </a:solidFill>
                <a:latin typeface="Arial"/>
              </a:rPr>
              <a:t>Real computed values — not a mock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JetBrains Mono"/>
              </a:rPr>
              <a:t>WHY THIS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772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3F5F8"/>
                </a:solidFill>
                <a:latin typeface="Arial"/>
              </a:rPr>
              <a:t>Verifiable beats plausible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42255" cy="18288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6936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818CF8"/>
                </a:solidFill>
                <a:latin typeface="Arial"/>
              </a:rPr>
              <a:t>Verifiable, not just claimed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46936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C9D4"/>
                </a:solidFill>
                <a:latin typeface="Arial"/>
              </a:rPr>
              <a:t>A live Trust Panel proves zero external AI calls in real time — you can watch it, not just read about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42255" cy="18288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6936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818CF8"/>
                </a:solidFill>
                <a:latin typeface="Arial"/>
              </a:rPr>
              <a:t>Real code-level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468880"/>
            <a:ext cx="46936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C9D4"/>
                </a:solidFill>
                <a:latin typeface="Arial"/>
              </a:rPr>
              <a:t>Call graph fan-in, cyclomatic complexity, git churn, and test proximity — not a guess dressed up as confidence.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5242255" cy="18288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931920"/>
            <a:ext cx="46936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818CF8"/>
                </a:solidFill>
                <a:latin typeface="Arial"/>
              </a:rPr>
              <a:t>An artifact, not a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46936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C9D4"/>
                </a:solidFill>
                <a:latin typeface="Arial"/>
              </a:rPr>
              <a:t>Auto-drafted, PR-ready intro comments using real git authorship — something a contributor actually uses.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57600"/>
            <a:ext cx="5242255" cy="1828800"/>
          </a:xfrm>
          <a:prstGeom prst="roundRect">
            <a:avLst/>
          </a:prstGeom>
          <a:solidFill>
            <a:srgbClr val="1A1E2A"/>
          </a:solidFill>
          <a:ln w="12700">
            <a:solidFill>
              <a:srgbClr val="1A1E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931920"/>
            <a:ext cx="46936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818CF8"/>
                </a:solidFill>
                <a:latin typeface="Arial"/>
              </a:rPr>
              <a:t>78 backend tests, all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480560"/>
            <a:ext cx="46936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C9D4"/>
                </a:solidFill>
                <a:latin typeface="Arial"/>
              </a:rPr>
              <a:t>Every test asserts against a real computed value — no mocked business logic anywhere in the suite.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76072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rial"/>
              </a:rPr>
              <a:t>IssueMatchAI  —  know exactly which issue is safe to touch, before you touch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
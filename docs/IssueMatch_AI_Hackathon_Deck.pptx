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84"/>
              </a:solidFill>
              <a:effectLst/>
            </c:spPr>
          </c:dPt>
          <c:dPt>
            <c:idx val="1"/>
            <c:bubble3D val="0"/>
            <c:spPr>
              <a:solidFill>
                <a:srgbClr val="FF5A4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0A162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0A162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Start Here</c:v>
                </c:pt>
                <c:pt idx="1">
                  <c:v>Here Be Dragons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135</c:v>
                </c:pt>
                <c:pt idx="1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A9C2D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60000">
            <a:off x="9646920" y="502920"/>
            <a:ext cx="1965960" cy="640080"/>
          </a:xfrm>
          <a:prstGeom prst="rect">
            <a:avLst/>
          </a:prstGeom>
          <a:ln w="22225">
            <a:solidFill>
              <a:srgbClr val="F5A6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 rot="-360000">
            <a:off x="9646920" y="502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FILED 2026-07-12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ASSESSMENT REPORT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5760720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10972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50" kern="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ISSUEMATCH</a:t>
            </a:r>
            <a:pPr indent="0" marL="0">
              <a:buNone/>
            </a:pPr>
            <a:r>
              <a:rPr lang="en-US" sz="5600" b="1" spc="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5600" dirty="0"/>
          </a:p>
        </p:txBody>
      </p:sp>
      <p:sp>
        <p:nvSpPr>
          <p:cNvPr id="8" name="Shape 5"/>
          <p:cNvSpPr/>
          <p:nvPr/>
        </p:nvSpPr>
        <p:spPr>
          <a:xfrm>
            <a:off x="566928" y="2788920"/>
            <a:ext cx="6583680" cy="0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747772"/>
            <a:ext cx="0" cy="82296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50608" y="2747772"/>
            <a:ext cx="0" cy="82296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8803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issue is safe to touch — before you touch it.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contribution risk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51960" y="35204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5196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analysis, computed live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35204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95528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224528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434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 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46451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300" dirty="0"/>
          </a:p>
        </p:txBody>
      </p:sp>
      <p:sp>
        <p:nvSpPr>
          <p:cNvPr id="21" name="Shape 18"/>
          <p:cNvSpPr/>
          <p:nvPr/>
        </p:nvSpPr>
        <p:spPr>
          <a:xfrm>
            <a:off x="548640" y="5330952"/>
            <a:ext cx="237744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2608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5394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API calls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337560" y="4434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 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337560" y="46451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00" dirty="0"/>
          </a:p>
        </p:txBody>
      </p:sp>
      <p:sp>
        <p:nvSpPr>
          <p:cNvPr id="27" name="Shape 24"/>
          <p:cNvSpPr/>
          <p:nvPr/>
        </p:nvSpPr>
        <p:spPr>
          <a:xfrm>
            <a:off x="3337560" y="5330952"/>
            <a:ext cx="237744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3756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1500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37560" y="5394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analysis signals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26480" y="4434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 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126480" y="46451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6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3300" dirty="0"/>
          </a:p>
        </p:txBody>
      </p:sp>
      <p:sp>
        <p:nvSpPr>
          <p:cNvPr id="33" name="Shape 30"/>
          <p:cNvSpPr/>
          <p:nvPr/>
        </p:nvSpPr>
        <p:spPr>
          <a:xfrm>
            <a:off x="6126480" y="5330952"/>
            <a:ext cx="237744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648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0392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0" y="5394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real values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915400" y="4434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 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915400" y="46451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300" dirty="0"/>
          </a:p>
        </p:txBody>
      </p:sp>
      <p:sp>
        <p:nvSpPr>
          <p:cNvPr id="39" name="Shape 36"/>
          <p:cNvSpPr/>
          <p:nvPr/>
        </p:nvSpPr>
        <p:spPr>
          <a:xfrm>
            <a:off x="8915400" y="5330952"/>
            <a:ext cx="237744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91540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292840" y="5303520"/>
            <a:ext cx="0" cy="54864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15400" y="5394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live, on-box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 rot="240000">
            <a:off x="8686800" y="5989320"/>
            <a:ext cx="2926080" cy="566928"/>
          </a:xfrm>
          <a:prstGeom prst="rect">
            <a:avLst/>
          </a:prstGeom>
          <a:ln w="22225">
            <a:solidFill>
              <a:srgbClr val="3DDC8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 rot="240000">
            <a:off x="8686800" y="59893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· NOT GUESSED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BACKGROUND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log: why onboarding keeps failing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051560" y="1783080"/>
            <a:ext cx="0" cy="4160520"/>
          </a:xfrm>
          <a:prstGeom prst="line">
            <a:avLst/>
          </a:prstGeom>
          <a:noFill/>
          <a:ln w="12700">
            <a:solidFill>
              <a:srgbClr val="2E4C6D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868680" y="2011680"/>
            <a:ext cx="365760" cy="365760"/>
          </a:xfrm>
          <a:prstGeom prst="ellipse">
            <a:avLst/>
          </a:prstGeom>
          <a:solidFill>
            <a:srgbClr val="0F2036"/>
          </a:solidFill>
          <a:ln w="19050">
            <a:solidFill>
              <a:srgbClr val="FF5A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1874520"/>
            <a:ext cx="10241280" cy="1280160"/>
          </a:xfrm>
          <a:prstGeom prst="roundRect">
            <a:avLst>
              <a:gd name="adj" fmla="val 7143"/>
            </a:avLst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91640" y="2157984"/>
            <a:ext cx="713232" cy="713232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FF5A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816" y="2329160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020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01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06040" y="22402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first issue” labels are hand-applied — and often wrong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606040" y="2651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a human glancing at an issue, not by looking at the code it touches. Some point straight at the single most-depended-on function in the whole repo.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" y="3456432"/>
            <a:ext cx="365760" cy="365760"/>
          </a:xfrm>
          <a:prstGeom prst="ellipse">
            <a:avLst/>
          </a:prstGeom>
          <a:solidFill>
            <a:srgbClr val="0F20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17320" y="3319272"/>
            <a:ext cx="10241280" cy="1280160"/>
          </a:xfrm>
          <a:prstGeom prst="roundRect">
            <a:avLst>
              <a:gd name="adj" fmla="val 7143"/>
            </a:avLst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91640" y="3602736"/>
            <a:ext cx="713232" cy="713232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16" y="3773912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06040" y="3465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02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606040" y="3685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learn a function was unsafe only after they've broken it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2606040" y="409651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fan-in, complexity, or test coverage before editing — so the first real signal is a failing CI run or an annoyed maintainer.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68680" y="4901184"/>
            <a:ext cx="365760" cy="365760"/>
          </a:xfrm>
          <a:prstGeom prst="ellipse">
            <a:avLst/>
          </a:prstGeom>
          <a:solidFill>
            <a:srgbClr val="0F2036"/>
          </a:solidFill>
          <a:ln w="19050">
            <a:solidFill>
              <a:srgbClr val="6FD1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417320" y="4764024"/>
            <a:ext cx="10241280" cy="1280160"/>
          </a:xfrm>
          <a:prstGeom prst="roundRect">
            <a:avLst>
              <a:gd name="adj" fmla="val 7143"/>
            </a:avLst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691640" y="5047488"/>
            <a:ext cx="713232" cy="713232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6FD1E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816" y="5218664"/>
            <a:ext cx="370881" cy="37088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606040" y="49103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03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2606040" y="5129784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can't fast-vet a contributor against the repo's real shape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2606040" y="55412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 today means reading a bio and hoping. No repeatable, repo-specific way to ask “is this person ready for this codebase?”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02 / 09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CONTRIBUTION RISK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SURVEY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the site: scale, and the trust gap left wide open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691640" cy="0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4028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3160" y="1920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28M+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423160" y="2788920"/>
            <a:ext cx="1691640" cy="0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316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19202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297680" y="2788920"/>
            <a:ext cx="1691640" cy="0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2756916"/>
            <a:ext cx="0" cy="64008"/>
          </a:xfrm>
          <a:prstGeom prst="line">
            <a:avLst/>
          </a:prstGeom>
          <a:noFill/>
          <a:ln w="12700">
            <a:solidFill>
              <a:srgbClr val="4C7B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on GitHub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42316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9768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“good first issue” PRs / yr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5623560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3977640"/>
            <a:ext cx="5623560" cy="2011680"/>
          </a:xfrm>
          <a:prstGeom prst="roundRect">
            <a:avLst>
              <a:gd name="adj" fmla="val 4545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77724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" y="443484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are exploding — almost all of them are LLM wrappers with hallucination risk on exactly the question that matters most: “is this safe to touch?”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92240" y="192024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F2036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66560" y="214884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6FD1E8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9" y="2302459"/>
            <a:ext cx="332842" cy="33284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4380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720840" y="297180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22B47"/>
          </a:solidFill>
          <a:ln w="15875">
            <a:solidFill>
              <a:srgbClr val="FF5A4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03720" y="3063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wrappers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903720" y="33924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at safety, hallucinate confidently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720840" y="393192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0372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linters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903720" y="435254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style, not real blast radius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720840" y="489204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22B47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903720" y="4983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IssueMatch AI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903720" y="531266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risk from real git + AST facts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03 / 09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SCALE + TIMING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 METHOD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instruments, wired into one chain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is either a formula you can see, or a fact read straight from git — never a model's guess.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3063240" cy="3291840"/>
          </a:xfrm>
          <a:prstGeom prst="roundRect">
            <a:avLst>
              <a:gd name="adj" fmla="val 2985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496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INSTR. 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05840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78" y="29754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749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Engine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005840" y="4297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tree-sitter parsing, call-graph fan-in, cyclomatic complexity, test proximity, and git churn — one transparent, weighted score per function.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40480" y="3977640"/>
            <a:ext cx="594360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434840" y="2331720"/>
            <a:ext cx="3063240" cy="3291840"/>
          </a:xfrm>
          <a:prstGeom prst="roundRect">
            <a:avLst>
              <a:gd name="adj" fmla="val 2985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0" y="2496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INSTR. 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63440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6FD1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297545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4663440" y="4297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sentence-transformer embeddings rank open issues against a contributor's real skills, with the TF-IDF terms that actually drove each match.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498080" y="3977640"/>
            <a:ext cx="594360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092440" y="2331720"/>
            <a:ext cx="3063240" cy="3291840"/>
          </a:xfrm>
          <a:prstGeom prst="roundRect">
            <a:avLst>
              <a:gd name="adj" fmla="val 2985"/>
            </a:avLst>
          </a:prstGeom>
          <a:solidFill>
            <a:srgbClr val="122B47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21040" y="2496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INSTR. 03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321040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78" y="2975458"/>
            <a:ext cx="404165" cy="4041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321040" y="3749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Zero-LLM Trust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8321040" y="4297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outbound call is routed through one instrumented client. A live panel shows exactly which hosts were contacted — provable, not promised.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04 / 09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THREE-INSTRUMENT ASSESSMENT CHAIN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 PROCEDURE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clone, two computed outputs — procedure, step by step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53619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 — CODE RISK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06640" y="1536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— ISSUE MATCH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040880" y="1536192"/>
            <a:ext cx="0" cy="4160520"/>
          </a:xfrm>
          <a:prstGeom prst="line">
            <a:avLst/>
          </a:prstGeom>
          <a:noFill/>
          <a:ln w="12700">
            <a:solidFill>
              <a:srgbClr val="2E4C6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1874520"/>
            <a:ext cx="196596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11096"/>
            <a:ext cx="1819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94360" y="2075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at a repo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33172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clone · full history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14600" y="2185416"/>
            <a:ext cx="338328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80360" y="1874520"/>
            <a:ext cx="228600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3512" y="1911096"/>
            <a:ext cx="2139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926080" y="2075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tree-sitter AST parse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926080" y="23317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JS · TS · TSX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023360" y="2496312"/>
            <a:ext cx="-2766060" cy="301752"/>
          </a:xfrm>
          <a:prstGeom prst="line">
            <a:avLst/>
          </a:prstGeom>
          <a:noFill/>
          <a:ln w="19050">
            <a:solidFill>
              <a:srgbClr val="2E4C6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23360" y="2496312"/>
            <a:ext cx="-1229868" cy="301752"/>
          </a:xfrm>
          <a:prstGeom prst="line">
            <a:avLst/>
          </a:prstGeom>
          <a:noFill/>
          <a:ln w="19050">
            <a:solidFill>
              <a:srgbClr val="2E4C6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023360" y="2496312"/>
            <a:ext cx="306324" cy="301752"/>
          </a:xfrm>
          <a:prstGeom prst="line">
            <a:avLst/>
          </a:prstGeom>
          <a:noFill/>
          <a:ln w="19050">
            <a:solidFill>
              <a:srgbClr val="2E4C6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023360" y="2496312"/>
            <a:ext cx="1842516" cy="301752"/>
          </a:xfrm>
          <a:prstGeom prst="line">
            <a:avLst/>
          </a:prstGeom>
          <a:noFill/>
          <a:ln w="19050">
            <a:solidFill>
              <a:srgbClr val="2E4C6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8640" y="2798064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28529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Fan-in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" y="3145536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×0.35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84832" y="2798064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12264" y="28529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12264" y="3145536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×0.30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21024" y="2798064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22B47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48456" y="28529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prox.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48456" y="3145536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×0.20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57216" y="2798064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22B47"/>
          </a:solidFill>
          <a:ln w="15875">
            <a:solidFill>
              <a:srgbClr val="FFC9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84648" y="285292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churn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84648" y="3145536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×0.15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257300" y="3456432"/>
            <a:ext cx="0" cy="18288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93492" y="3456432"/>
            <a:ext cx="0" cy="18288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29684" y="3456432"/>
            <a:ext cx="0" cy="18288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865876" y="3456432"/>
            <a:ext cx="0" cy="18288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257300" y="3639312"/>
            <a:ext cx="4608576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566160" y="3639312"/>
            <a:ext cx="0" cy="27432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371600" y="393192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44752" y="3968496"/>
            <a:ext cx="4242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1417320" y="41330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Radius Score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417320" y="43891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sum, normalized across the repo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566160" y="4553712"/>
            <a:ext cx="0" cy="329184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371600" y="4901184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FF5A4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444752" y="4937760"/>
            <a:ext cx="4242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5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417320" y="5102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  /  Here Be Dragons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417320" y="535838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= your risk-tolerance slider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406640" y="1874520"/>
            <a:ext cx="41605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79792" y="1911096"/>
            <a:ext cx="4014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7452360" y="20756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issues + your skills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7452360" y="233172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· your repos' languages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486900" y="2496312"/>
            <a:ext cx="0" cy="237744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7406640" y="2752344"/>
            <a:ext cx="41605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479792" y="2788920"/>
            <a:ext cx="4014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7452360" y="29535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embeddings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452360" y="3209544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· on CPU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9486900" y="3374136"/>
            <a:ext cx="0" cy="237744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7406640" y="3630168"/>
            <a:ext cx="41605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479792" y="3666744"/>
            <a:ext cx="4014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7452360" y="383133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 + TF-IDF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7452360" y="408736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with real overlap terms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9486900" y="4251960"/>
            <a:ext cx="0" cy="237744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7406640" y="4507992"/>
            <a:ext cx="4160520" cy="621792"/>
          </a:xfrm>
          <a:prstGeom prst="roundRect">
            <a:avLst>
              <a:gd name="adj" fmla="val 10294"/>
            </a:avLst>
          </a:prstGeom>
          <a:solidFill>
            <a:srgbClr val="122B47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479792" y="4544568"/>
            <a:ext cx="4014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7452360" y="4709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matches + drafted comment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7452360" y="496519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 authorship · PR-ready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907024"/>
            <a:ext cx="237744" cy="237744"/>
          </a:xfrm>
          <a:prstGeom prst="rect">
            <a:avLst/>
          </a:prstGeom>
        </p:spPr>
      </p:pic>
      <p:sp>
        <p:nvSpPr>
          <p:cNvPr id="71" name="Text 67"/>
          <p:cNvSpPr/>
          <p:nvPr/>
        </p:nvSpPr>
        <p:spPr>
          <a:xfrm>
            <a:off x="1115568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 calls in either lane — the only outbound request anywhere is to api.github.com, enforced by one instrumented client.</a:t>
            </a:r>
            <a:endParaRPr lang="en-US" sz="1100" dirty="0"/>
          </a:p>
        </p:txBody>
      </p:sp>
      <p:sp>
        <p:nvSpPr>
          <p:cNvPr id="72" name="Text 68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05 / 09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PLAN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plan: everything runs on your box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8686800" cy="4160520"/>
          </a:xfrm>
          <a:prstGeom prst="rect">
            <a:avLst/>
          </a:prstGeom>
          <a:ln w="12700">
            <a:solidFill>
              <a:srgbClr val="4C7BA6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31520" y="17830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PERIMETER — YOUR MACHINE / YOUR INFRA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2103120" cy="1417320"/>
          </a:xfrm>
          <a:prstGeom prst="rect">
            <a:avLst/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246888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34" y="26005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14400" y="33649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TypeScript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926080" y="2999232"/>
            <a:ext cx="502920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2697480" y="27066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HTTP/JSON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474720" y="2103120"/>
            <a:ext cx="3246120" cy="3566160"/>
          </a:xfrm>
          <a:prstGeom prst="rect">
            <a:avLst/>
          </a:prstGeom>
          <a:solidFill>
            <a:srgbClr val="0F2036"/>
          </a:solidFill>
          <a:ln w="15875">
            <a:solidFill>
              <a:srgbClr val="6FD1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03320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021" y="240670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23134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703320" y="2880360"/>
            <a:ext cx="2788920" cy="73152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01752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61104" y="29626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Engine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261104" y="3246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· call graph · churn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3703320" y="3767328"/>
            <a:ext cx="2788920" cy="73152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90448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61104" y="38496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261104" y="41330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· TF-IDF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3703320" y="4654296"/>
            <a:ext cx="2788920" cy="73152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79145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61104" y="4736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HTTP client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261104" y="502005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to the internet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7178040" y="2286000"/>
            <a:ext cx="1874520" cy="1078992"/>
          </a:xfrm>
          <a:prstGeom prst="rect">
            <a:avLst/>
          </a:prstGeom>
          <a:solidFill>
            <a:srgbClr val="122B47"/>
          </a:solidFill>
          <a:ln w="15875">
            <a:solidFill>
              <a:srgbClr val="6FD1E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242316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772400" y="24231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736092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skill profiles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6720840" y="2816352"/>
            <a:ext cx="411480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7178040" y="3584448"/>
            <a:ext cx="1874520" cy="1078992"/>
          </a:xfrm>
          <a:prstGeom prst="rect">
            <a:avLst/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3721608"/>
            <a:ext cx="347472" cy="34747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772400" y="37216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7360920" y="4114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 cache, SHA-keyed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6720840" y="4114800"/>
            <a:ext cx="411480" cy="0"/>
          </a:xfrm>
          <a:prstGeom prst="line">
            <a:avLst/>
          </a:prstGeom>
          <a:noFill/>
          <a:ln w="19050">
            <a:solidFill>
              <a:srgbClr val="4C7BA6"/>
            </a:solidFill>
            <a:prstDash val="solid"/>
            <a:tailEnd type="triangle"/>
          </a:ln>
        </p:spPr>
      </p:sp>
      <p:sp>
        <p:nvSpPr>
          <p:cNvPr id="42" name="Shape 32"/>
          <p:cNvSpPr/>
          <p:nvPr/>
        </p:nvSpPr>
        <p:spPr>
          <a:xfrm>
            <a:off x="9646920" y="3520440"/>
            <a:ext cx="1965960" cy="1325880"/>
          </a:xfrm>
          <a:prstGeom prst="rect">
            <a:avLst/>
          </a:prstGeom>
          <a:solidFill>
            <a:srgbClr val="122B47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9875520" y="3675888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6221" y="3796589"/>
            <a:ext cx="261518" cy="26151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69264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969264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external host</a:t>
            </a:r>
            <a:endParaRPr lang="en-US" sz="800" dirty="0"/>
          </a:p>
        </p:txBody>
      </p:sp>
      <p:sp>
        <p:nvSpPr>
          <p:cNvPr id="47" name="Shape 36"/>
          <p:cNvSpPr/>
          <p:nvPr/>
        </p:nvSpPr>
        <p:spPr>
          <a:xfrm>
            <a:off x="6492240" y="4160520"/>
            <a:ext cx="3108960" cy="27432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  <a:tailEnd type="triangle"/>
          </a:ln>
        </p:spPr>
      </p:sp>
      <p:sp>
        <p:nvSpPr>
          <p:cNvPr id="48" name="Text 37"/>
          <p:cNvSpPr/>
          <p:nvPr/>
        </p:nvSpPr>
        <p:spPr>
          <a:xfrm>
            <a:off x="7452360" y="39136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 · REST</a:t>
            </a:r>
            <a:endParaRPr lang="en-US" sz="700" dirty="0"/>
          </a:p>
        </p:txBody>
      </p:sp>
      <p:sp>
        <p:nvSpPr>
          <p:cNvPr id="49" name="Shape 38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0F2036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77240" y="594360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model and spaCy pipeline are baked into the backend image at build time — zero model downloads at request time.</a:t>
            </a:r>
            <a:endParaRPr lang="en-US" sz="1050" dirty="0"/>
          </a:p>
        </p:txBody>
      </p:sp>
      <p:sp>
        <p:nvSpPr>
          <p:cNvPr id="51" name="Text 40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06 / 09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INSTRUMENTATION MANIFEST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manifest: chosen for real analysis, not API calls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solidFill>
            <a:srgbClr val="0F203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0" y="1691640"/>
            <a:ext cx="2770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VERIFIED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11091672" cy="932688"/>
          </a:xfrm>
          <a:prstGeom prst="rect">
            <a:avLst/>
          </a:prstGeom>
          <a:solidFill>
            <a:srgbClr val="122B47"/>
          </a:solidFill>
          <a:ln w="9525">
            <a:solidFill>
              <a:srgbClr val="2E4C6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55" y="21854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2679192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73" y="218541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21558" y="2679192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21558" y="2167128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191" y="2185416"/>
            <a:ext cx="475488" cy="4754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4476" y="2679192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094476" y="2167128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109" y="2185416"/>
            <a:ext cx="475488" cy="4754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67394" y="2679192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867394" y="2167128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48640" y="3136392"/>
            <a:ext cx="11091672" cy="365760"/>
          </a:xfrm>
          <a:prstGeom prst="rect">
            <a:avLst/>
          </a:prstGeom>
          <a:solidFill>
            <a:srgbClr val="0F2036"/>
          </a:solidFill>
          <a:ln w="12700">
            <a:solidFill>
              <a:srgbClr val="6FD1E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31520" y="3136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686800" y="3136392"/>
            <a:ext cx="2770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VERIFIED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48640" y="3502152"/>
            <a:ext cx="11091672" cy="932688"/>
          </a:xfrm>
          <a:prstGeom prst="rect">
            <a:avLst/>
          </a:prstGeom>
          <a:solidFill>
            <a:srgbClr val="122B47"/>
          </a:solidFill>
          <a:ln w="9525">
            <a:solidFill>
              <a:srgbClr val="2E4C6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355" y="363016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" y="4123944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273" y="3630168"/>
            <a:ext cx="475488" cy="4754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321558" y="4123944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3321558" y="3611880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3191" y="3630168"/>
            <a:ext cx="475488" cy="47548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094476" y="4123944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094476" y="3611880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6109" y="3630168"/>
            <a:ext cx="475488" cy="4754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867394" y="4123944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8867394" y="3611880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548640" y="4581144"/>
            <a:ext cx="11091672" cy="365760"/>
          </a:xfrm>
          <a:prstGeom prst="rect">
            <a:avLst/>
          </a:prstGeom>
          <a:solidFill>
            <a:srgbClr val="0F2036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731520" y="4581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INFRA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8686800" y="4581144"/>
            <a:ext cx="2770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VERIFIED</a:t>
            </a:r>
            <a:endParaRPr lang="en-US" sz="850" dirty="0"/>
          </a:p>
        </p:txBody>
      </p:sp>
      <p:sp>
        <p:nvSpPr>
          <p:cNvPr id="40" name="Shape 29"/>
          <p:cNvSpPr/>
          <p:nvPr/>
        </p:nvSpPr>
        <p:spPr>
          <a:xfrm>
            <a:off x="548640" y="4946904"/>
            <a:ext cx="11091672" cy="932688"/>
          </a:xfrm>
          <a:prstGeom prst="rect">
            <a:avLst/>
          </a:prstGeom>
          <a:solidFill>
            <a:srgbClr val="122B47"/>
          </a:solidFill>
          <a:ln w="9525">
            <a:solidFill>
              <a:srgbClr val="2E4C6D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7355" y="5074920"/>
            <a:ext cx="475488" cy="4754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48640" y="5568696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0273" y="5074920"/>
            <a:ext cx="475488" cy="47548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321558" y="5568696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3321558" y="5056632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3191" y="5074920"/>
            <a:ext cx="475488" cy="47548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094476" y="5568696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48" name="Shape 34"/>
          <p:cNvSpPr/>
          <p:nvPr/>
        </p:nvSpPr>
        <p:spPr>
          <a:xfrm>
            <a:off x="6094476" y="5056632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6109" y="5074920"/>
            <a:ext cx="475488" cy="47548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8867394" y="5568696"/>
            <a:ext cx="27729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</a:t>
            </a:r>
            <a:endParaRPr lang="en-US" sz="1100" dirty="0"/>
          </a:p>
        </p:txBody>
      </p:sp>
      <p:sp>
        <p:nvSpPr>
          <p:cNvPr id="51" name="Shape 36"/>
          <p:cNvSpPr/>
          <p:nvPr/>
        </p:nvSpPr>
        <p:spPr>
          <a:xfrm>
            <a:off x="8867394" y="5056632"/>
            <a:ext cx="0" cy="713232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07 / 09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REPORT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report: running against a real repository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6720840" cy="4297680"/>
          </a:xfrm>
          <a:prstGeom prst="rect">
            <a:avLst/>
          </a:prstGeom>
          <a:solidFill>
            <a:srgbClr val="0A1628"/>
          </a:solidFill>
          <a:ln w="15875">
            <a:solidFill>
              <a:srgbClr val="4C7B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600200"/>
            <a:ext cx="6720840" cy="365760"/>
          </a:xfrm>
          <a:prstGeom prst="rect">
            <a:avLst/>
          </a:prstGeom>
          <a:solidFill>
            <a:srgbClr val="0F2036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72821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932688" y="172821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133856" y="172821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4672" y="2057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IssueMatch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" y="2386584"/>
            <a:ext cx="6208776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" y="2532888"/>
            <a:ext cx="6208776" cy="1170432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2642616"/>
            <a:ext cx="5843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Engine — analyze a repo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87552" y="2944368"/>
            <a:ext cx="4974336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2944368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braedonsaunders/codeflow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99048" y="2944368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7"/>
          <p:cNvSpPr/>
          <p:nvPr/>
        </p:nvSpPr>
        <p:spPr>
          <a:xfrm>
            <a:off x="6099048" y="29443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87552" y="3319272"/>
            <a:ext cx="5843016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3319272"/>
            <a:ext cx="5660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codeflow @ </a:t>
            </a:r>
            <a:pPr indent="0" marL="0">
              <a:buNone/>
            </a:pPr>
            <a:r>
              <a:rPr lang="en-US" sz="80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af3b007</a:t>
            </a:r>
            <a:pPr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46 files, 140 functions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04672" y="3831336"/>
            <a:ext cx="3003804" cy="137160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3941064"/>
            <a:ext cx="26746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9264" y="4251960"/>
            <a:ext cx="685800" cy="685800"/>
          </a:xfrm>
          <a:prstGeom prst="ellipse">
            <a:avLst/>
          </a:prstGeom>
          <a:ln w="6985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264" y="4251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764792" y="4334256"/>
            <a:ext cx="19065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0.40×overlap + 0.35×(1−risk)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+ 0.25×gap penalty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009644" y="3831336"/>
            <a:ext cx="3003804" cy="137160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74236" y="3941064"/>
            <a:ext cx="26746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74236" y="4233672"/>
            <a:ext cx="19979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renderReceipt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172200" y="42336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74236" y="4526280"/>
            <a:ext cx="19979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loadEvent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172200" y="4526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74236" y="4818888"/>
            <a:ext cx="19979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repoSlug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172200" y="4818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452360" y="1600200"/>
            <a:ext cx="4187952" cy="4297680"/>
          </a:xfrm>
          <a:prstGeom prst="rect">
            <a:avLst/>
          </a:prstGeom>
          <a:solidFill>
            <a:srgbClr val="122B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300000">
            <a:off x="9674352" y="1755648"/>
            <a:ext cx="1783080" cy="457200"/>
          </a:xfrm>
          <a:prstGeom prst="rect">
            <a:avLst/>
          </a:prstGeom>
          <a:ln w="22225">
            <a:solidFill>
              <a:srgbClr val="3DDC8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 rot="300000">
            <a:off x="96743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COMPUTE</a:t>
            </a:r>
            <a:endParaRPr lang="en-US" sz="85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86000"/>
            <a:ext cx="329184" cy="329184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092440" y="22677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readout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7680960" y="269748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functions scored in one pass — the tool surfaces the handful that are genuinely risky.</a:t>
            </a:r>
            <a:endParaRPr lang="en-US" sz="10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7909560" y="3246120"/>
          <a:ext cx="3246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 38"/>
          <p:cNvSpPr/>
          <p:nvPr/>
        </p:nvSpPr>
        <p:spPr>
          <a:xfrm>
            <a:off x="7680960" y="550468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/ 140 SAFE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9966960" y="6473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08 / 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74520" y="3657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 FINDINGS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713232"/>
            <a:ext cx="11091672" cy="0"/>
          </a:xfrm>
          <a:prstGeom prst="line">
            <a:avLst/>
          </a:prstGeom>
          <a:noFill/>
          <a:ln w="9525">
            <a:solidFill>
              <a:srgbClr val="2E4C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Certified: verifiable beats plausible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212080" cy="155448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9568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6654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not just claimed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41248" y="23957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Trust Panel proves zero external AI calls in real time — you watch it, not just read about it.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737360"/>
            <a:ext cx="5212080" cy="155448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27648" y="19568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06654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code-level proof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19088" y="23957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Call-graph fan-in, cyclomatic complexity, git churn, and test proximity — not a guess dressed up as confidence.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520440"/>
            <a:ext cx="5212080" cy="155448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3739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4962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703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artifact, not a report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1248" y="41788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Auto-drafted, PR-ready intro comments using real git authorship — something a contributor actually uses.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3520440"/>
            <a:ext cx="5212080" cy="1554480"/>
          </a:xfrm>
          <a:prstGeom prst="rect">
            <a:avLst/>
          </a:prstGeom>
          <a:solidFill>
            <a:srgbClr val="122B47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27648" y="3739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2036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384962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3703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backend tests, all real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419088" y="41788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asserts against a real computed value — no mocked business logic anywhere in the suite.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5623560"/>
            <a:ext cx="804672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8640" y="5806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IssueMatch</a:t>
            </a:r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1350" dirty="0">
                <a:solidFill>
                  <a:srgbClr val="A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know exactly which issue is safe to touch, before you touch it.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 rot="-300000">
            <a:off x="8915400" y="5532120"/>
            <a:ext cx="2697480" cy="868680"/>
          </a:xfrm>
          <a:prstGeom prst="rect">
            <a:avLst/>
          </a:prstGeom>
          <a:ln w="22225">
            <a:solidFill>
              <a:srgbClr val="3DDC8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 rot="-300000">
            <a:off x="8915400" y="55321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EXTERNAL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2026-07-12T06:33:41Z</dcterms:created>
  <dcterms:modified xsi:type="dcterms:W3CDTF">2026-07-12T06:33:41Z</dcterms:modified>
</cp:coreProperties>
</file>
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ZERO LLM CALLS  ·  PURE STATIC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3F5F8"/>
                </a:solidFill>
                <a:latin typeface="Arial"/>
              </a:rPr>
              <a:t>IssueMatch</a:t>
            </a:r>
            <a:r>
              <a:rPr sz="4400" b="1">
                <a:solidFill>
                  <a:srgbClr val="818CF8"/>
                </a:solidFill>
                <a:latin typeface="Arial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4C9D4"/>
                </a:solidFill>
                <a:latin typeface="Arial"/>
              </a:rPr>
              <a:t>Proving code safety, scope risk, and developer readiness before editing a single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3A6"/>
                </a:solidFill>
                <a:latin typeface="Arial"/>
              </a:rPr>
              <a:t>A zero-LLM local static analysis compiler that parses AST call-graphs, evaluates test proximity, extracts commit owners, and semantically maps contributors to issues with live network transparency.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2D3EE"/>
                </a:solidFill>
                <a:latin typeface="JetBrains Mono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120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External AI API Calls
(Falsifiable via live Trust Panel)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480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818CF8"/>
                </a:solidFill>
                <a:latin typeface="JetBrains Mono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52120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AST &amp; Churn Signals
(Fan-in, Complexity, Test, Churn)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480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C084FC"/>
                </a:solidFill>
                <a:latin typeface="JetBrains Mono"/>
              </a:rPr>
              <a:t>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2120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Backend Pytests Passing
(100% true values, zero mocks)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JetBrains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The onboarding trust gap in open-source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3F5E"/>
                </a:solidFill>
                <a:latin typeface="JetBrains Mono"/>
              </a:rPr>
              <a:t>01 / LABELS ARE GUESSES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Vague “Good First Issue” labels are highly inaccurate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Symptom: </a:t>
            </a:r>
            <a:r>
              <a:rPr sz="1200" b="0">
                <a:solidFill>
                  <a:srgbClr val="C4C9D4"/>
                </a:solidFill>
                <a:latin typeface="Arial"/>
              </a:rPr>
              <a:t>Maintainers manually apply beginner-friendly labels based on issue descriptions.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Root Cause: </a:t>
            </a:r>
            <a:r>
              <a:rPr sz="1200" b="0">
                <a:solidFill>
                  <a:srgbClr val="C4C9D4"/>
                </a:solidFill>
                <a:latin typeface="Arial"/>
              </a:rPr>
              <a:t>No automatic checking of what functions or code lines the issue actually touches.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3F5E"/>
                </a:solidFill>
                <a:latin typeface="Arial"/>
              </a:rPr>
              <a:t>Impact: </a:t>
            </a:r>
            <a:r>
              <a:rPr sz="1200" b="0">
                <a:solidFill>
                  <a:srgbClr val="C4C9D4"/>
                </a:solidFill>
                <a:latin typeface="Arial"/>
              </a:rPr>
              <a:t>Beginners get assigned to functions with massive blast radii and complex call paths, leading to frustration and abandoned PRs.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JetBrains Mono"/>
              </a:rPr>
              <a:t>02 / BLIND MODIFICATION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Developers break code scope without pre-merge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7472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Symptom: </a:t>
            </a:r>
            <a:r>
              <a:rPr sz="1200" b="0">
                <a:solidFill>
                  <a:srgbClr val="C4C9D4"/>
                </a:solidFill>
                <a:latin typeface="Arial"/>
              </a:rPr>
              <a:t>Contributors discover high-risk dependencies after submitting breaking code.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Root Cause: </a:t>
            </a:r>
            <a:r>
              <a:rPr sz="1200" b="0">
                <a:solidFill>
                  <a:srgbClr val="C4C9D4"/>
                </a:solidFill>
                <a:latin typeface="Arial"/>
              </a:rPr>
              <a:t>Lack of local access to function fan-in complexity, git churn, or test coverage.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Impact: </a:t>
            </a:r>
            <a:r>
              <a:rPr sz="1200" b="0">
                <a:solidFill>
                  <a:srgbClr val="C4C9D4"/>
                </a:solidFill>
                <a:latin typeface="Arial"/>
              </a:rPr>
              <a:t>Failed CI test suites, massive regression risk, and hours wasted on review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03 / SILOED READINESS VETTING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Maintainers have no metric for contributor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Symptom: </a:t>
            </a:r>
            <a:r>
              <a:rPr sz="1200" b="0">
                <a:solidFill>
                  <a:srgbClr val="C4C9D4"/>
                </a:solidFill>
                <a:latin typeface="Arial"/>
              </a:rPr>
              <a:t>Assessing whether a contributor fits a codebase requires long historical review.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Root Cause: </a:t>
            </a:r>
            <a:r>
              <a:rPr sz="1200" b="0">
                <a:solidFill>
                  <a:srgbClr val="C4C9D4"/>
                </a:solidFill>
                <a:latin typeface="Arial"/>
              </a:rPr>
              <a:t>No programmatic skill-gap checking against the repo's manifests.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Arial"/>
              </a:rPr>
              <a:t>Impact: </a:t>
            </a:r>
            <a:r>
              <a:rPr sz="1200" b="0">
                <a:solidFill>
                  <a:srgbClr val="C4C9D4"/>
                </a:solidFill>
                <a:latin typeface="Arial"/>
              </a:rPr>
              <a:t>Vague bio matching leads to mismatched tasks, slow reviews, and high maintainer fatigue.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84FC"/>
                </a:solidFill>
                <a:latin typeface="JetBrains Mono"/>
              </a:rPr>
              <a:t>MARKET &amp;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Why a static-analysis trust layer is critical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818CF8"/>
                </a:solidFill>
                <a:latin typeface="JetBrains Mono"/>
              </a:rPr>
              <a:t>100M+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Arial"/>
              </a:rPr>
              <a:t>Active developers on GitHub creating open-source contributions daily.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818CF8"/>
                </a:solidFill>
                <a:latin typeface="JetBrains Mono"/>
              </a:rPr>
              <a:t>28M+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Arial"/>
              </a:rPr>
              <a:t>Public repositories containing complex code hierarchies with minimal onboarding docs.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818CF8"/>
                </a:solidFill>
                <a:latin typeface="JetBrains Mono"/>
              </a:rPr>
              <a:t>70%+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Arial"/>
              </a:rPr>
              <a:t>First-time PR abandonment rate due to initial scope miscalculation or review friction.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011680"/>
            <a:ext cx="12700" cy="402336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2011680"/>
            <a:ext cx="621792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2860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THE TRUST GAP  ·  THE LLM HYPERBOLE VS AST DETERMINISM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517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F5F8"/>
                </a:solidFill>
                <a:latin typeface="Arial"/>
              </a:rPr>
              <a:t>AI coding assistants are booming, but they are built as statistical LLM wrapper boxes. Hallucination makes them fundamentally untrustworthy for answering the critical question: 'Is this code safe to edit?'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5661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4C9D4"/>
                </a:solidFill>
                <a:latin typeface="Arial"/>
              </a:rPr>
              <a:t>At the same time, running NLP embeddings and AST syntactic engines in-process on consumer CPUs has reached a performance tipping point. We can now compute repository blast graphs instantly without network delays or licensing costs.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4526280"/>
            <a:ext cx="5669280" cy="1270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47091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rial"/>
              </a:rPr>
              <a:t>The Next Era: Deterministic Static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07492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93A6"/>
                </a:solidFill>
                <a:latin typeface="Arial"/>
              </a:rPr>
              <a:t>IssueMatch AI replaces LLM guesses with math. We clone once, parse tree-sitter locally, compile scopes, and prove safety before the code is touched.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THE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Deterministic matching backed by static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4C9D4"/>
                </a:solidFill>
                <a:latin typeface="Arial"/>
              </a:rPr>
              <a:t>We compile code metrics, git history, and issue copy into mathematical alignment scores — with zero LLM dependence.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JetBrains Mono"/>
              </a:rPr>
              <a:t>PILLAR 01 / AST METRIC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3F5F8"/>
                </a:solidFill>
                <a:latin typeface="Arial"/>
              </a:rPr>
              <a:t>Blast Radius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9D4"/>
                </a:solidFill>
                <a:latin typeface="Arial"/>
              </a:rPr>
              <a:t>A multi-language parser evaluates code files to calculate MCCabe complexity, cross-file reference fan-in, test file proximity, and commit churn.
These four signals are computed in one fast walk of the repository's syntax forest to compile a risk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29184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PILLAR 02 / SEMANTIC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3F5F8"/>
                </a:solidFill>
                <a:latin typeface="Arial"/>
              </a:rPr>
              <a:t>Local Semantic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9D4"/>
                </a:solidFill>
                <a:latin typeface="Arial"/>
              </a:rPr>
              <a:t>Sentence-transformer embeddings run locally on CPU to compute similarity vectors between issue body text and developer skill listings.
TF-IDF vectors extract exact overlapping skill terminologies to verify the match and avoid black-box model guesswork.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29184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JetBrains Mono"/>
              </a:rPr>
              <a:t>PILLAR 03 / STRUCTURAL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3F5F8"/>
                </a:solidFill>
                <a:latin typeface="Arial"/>
              </a:rPr>
              <a:t>Falsifiable Trust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9D4"/>
                </a:solidFill>
                <a:latin typeface="Arial"/>
              </a:rPr>
              <a:t>We guarantee zero network dependencies. All outbound calls flow through one client interface.
A live browser panel verifies that only API requests to github.com are executed. If any other host is contacted, the console turns red immediately.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JetBrains Mono"/>
              </a:rPr>
              <a:t>TECHNICAL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One clone, two computed outputs — no model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JetBrains Mono"/>
              </a:rPr>
              <a:t>① CODE-RISK AST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② NLP EMBEDDING &amp; SKILL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371600"/>
            <a:ext cx="12700" cy="393192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96596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Git fetch/clone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Filter blob:none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105914"/>
            <a:ext cx="24384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2907792" y="2039112"/>
            <a:ext cx="109728" cy="146304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7520" y="1783080"/>
            <a:ext cx="219456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874519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tree-sitter grammar parse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scope call-graphs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Fan-in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84FC"/>
                </a:solidFill>
                <a:latin typeface="JetBrains Mono"/>
              </a:rPr>
              <a:t>×0.35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94460" y="2585974"/>
            <a:ext cx="272034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88110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1321308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456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Complexity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JetBrains Mono"/>
              </a:rPr>
              <a:t>×0.30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57500" y="2585974"/>
            <a:ext cx="125730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51150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2784348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Test proximity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JetBrains Mono"/>
              </a:rPr>
              <a:t>×0.20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2585974"/>
            <a:ext cx="20574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4190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247388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2064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Git churn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18CF8"/>
                </a:solidFill>
                <a:latin typeface="JetBrains Mono"/>
              </a:rPr>
              <a:t>×0.15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0" y="2585974"/>
            <a:ext cx="1668779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77229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10800000">
            <a:off x="5710427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88110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51150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4190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77229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94460" y="3605530"/>
            <a:ext cx="438912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82670" y="3611880"/>
            <a:ext cx="12700" cy="24384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10800000">
            <a:off x="3515868" y="382219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394460" y="3931920"/>
            <a:ext cx="438912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94460" y="40233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Blast Radius Score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normalized weighted sum per function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82670" y="459028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10800000">
            <a:off x="3515868" y="473659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94460" y="4846320"/>
            <a:ext cx="4389120" cy="54864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94460" y="4983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18CF8"/>
                </a:solidFill>
                <a:latin typeface="JetBrains Mono"/>
              </a:rPr>
              <a:t>Score = 0.35(FanIn) + 0.30(CC) + 0.20(TestProx) + 0.15(Churn)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06640" y="17830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1874519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NLP parser (spaCy)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SVO dependency parsing &amp; skill tags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57690" y="244144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10800000">
            <a:off x="9390888" y="258775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06640" y="26974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06640" y="27889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all-MiniLM-L6-v2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Local CPU embeddings matching issue text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57690" y="335584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 rot="10800000">
            <a:off x="9390888" y="350215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406640" y="36118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37033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Cosine overlap + TF-IDF matrix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Cosine rank with exact TF-IDF terms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57690" y="427024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 rot="10800000">
            <a:off x="9390888" y="441655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406640" y="45262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46177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Readiness Score Calculator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D3EE"/>
                </a:solidFill>
                <a:latin typeface="JetBrains Mono"/>
              </a:rPr>
              <a:t>0.40(Overlap) + 0.35(1-Risk) + 0.25(1/1+Gap)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14400" y="5779008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15568" y="56692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JetBrains Mono"/>
              </a:rPr>
              <a:t>GUARANTEED COMPILATION VERACITY:
</a:t>
            </a:r>
            <a:r>
              <a:rPr sz="1200" b="0">
                <a:solidFill>
                  <a:srgbClr val="C4C9D4"/>
                </a:solidFill>
                <a:latin typeface="Arial"/>
              </a:rPr>
              <a:t>Every metric is traceable directly to an AST scope, a local cosine output, or a git commit. The live Trust Panel ensures the only external server contacted is api.github.com, rendering fake metrics or AI hallucinations impossible.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84FC"/>
                </a:solidFill>
                <a:latin typeface="JetBrains Mono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A stack chosen for real analysis, not API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JetBrains Mono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React 19  ·  Vite  ·  TypeScript  ·  Tailwind CSS v4  ·  React Query
</a:t>
            </a:r>
            <a:r>
              <a:rPr sz="1150" b="0">
                <a:solidFill>
                  <a:srgbClr val="8A93A6"/>
                </a:solidFill>
                <a:latin typeface="Arial"/>
              </a:rPr>
              <a:t>Responsive SPA with clean state caching, rendering live Blast Radius Maps via radial BFS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JetBrains Mono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8892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FastAPI  ·  tree-sitter  ·  sentence-transformers  ·  scikit-learn  ·  spaCy
</a:t>
            </a:r>
            <a:r>
              <a:rPr sz="1150" b="0">
                <a:solidFill>
                  <a:srgbClr val="8A93A6"/>
                </a:solidFill>
                <a:latin typeface="Arial"/>
              </a:rPr>
              <a:t>Asynchronous endpoints running local embeddings (MiniLM) and spaCy grammar trees entirely in-process on CPU.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502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9476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PostgreSQL (users)  ·  Redis (per-repo analysis cache)
</a:t>
            </a:r>
            <a:r>
              <a:rPr sz="1150" b="0">
                <a:solidFill>
                  <a:srgbClr val="8A93A6"/>
                </a:solidFill>
                <a:latin typeface="Arial"/>
              </a:rPr>
              <a:t>PostgreSQL handles user profiles; Redis stores parsed call-graphs and repo facts (1-hour TTL) for O(1) matching.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80060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56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JetBrains Mono"/>
              </a:rPr>
              <a:t>TRUST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80060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One instrumented HTTP client  →  api.github.com only, enforced live
</a:t>
            </a:r>
            <a:r>
              <a:rPr sz="1150" b="0">
                <a:solidFill>
                  <a:srgbClr val="8A93A6"/>
                </a:solidFill>
                <a:latin typeface="Arial"/>
              </a:rPr>
              <a:t>Custom decorator intercepts and logs HTTP requests, updating the Trust Panel and shutting down on unverified hosts.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3A6"/>
                </a:solidFill>
                <a:latin typeface="Arial"/>
              </a:rPr>
              <a:t>Optimized Docker build: The sentence-transformer and spaCy pipelines are baked into the Docker image at build time — zero startup downloads.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Live interface walkthrough running on localhost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572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19072"/>
            <a:ext cx="109728" cy="109728"/>
          </a:xfrm>
          <a:prstGeom prst="ellipse">
            <a:avLst/>
          </a:prstGeom>
          <a:solidFill>
            <a:srgbClr val="F43F5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719072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6733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JetBrains Mono"/>
              </a:rPr>
              <a:t>localhost:5173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IssueMatch</a:t>
            </a:r>
            <a:r>
              <a:rPr sz="1400" b="1">
                <a:solidFill>
                  <a:srgbClr val="818CF8"/>
                </a:solidFill>
                <a:latin typeface="Arial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2140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18CF8"/>
                </a:solidFill>
                <a:latin typeface="Arial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2140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12140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Arial"/>
              </a:rPr>
              <a:t>Settings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10728655" cy="1270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2651760"/>
            <a:ext cx="4937760" cy="16459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788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Your skill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632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Compared against issue text via local sentence embeddings — no external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566160"/>
            <a:ext cx="731520" cy="22860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58444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18CF8"/>
                </a:solidFill>
                <a:latin typeface="JetBrains Mono"/>
              </a:rPr>
              <a:t>python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3931920"/>
            <a:ext cx="4572000" cy="274320"/>
          </a:xfrm>
          <a:prstGeom prst="roundRect">
            <a:avLst/>
          </a:prstGeom>
          <a:solidFill>
            <a:srgbClr val="818CF8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95935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151D"/>
                </a:solidFill>
                <a:latin typeface="Arial"/>
              </a:rPr>
              <a:t>Save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4937760" cy="16459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Blast Radius Engine — analyze a repo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54680"/>
            <a:ext cx="3474720" cy="27432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18211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3F5F8"/>
                </a:solidFill>
                <a:latin typeface="JetBrains Mono"/>
              </a:rPr>
              <a:t>pallets/itsdangerous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3154680"/>
            <a:ext cx="1005840" cy="2743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318211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3F5F8"/>
                </a:solidFill>
                <a:latin typeface="Arial"/>
              </a:rPr>
              <a:t>Analyze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66160"/>
            <a:ext cx="45720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61188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JetBrains Mono"/>
              </a:rPr>
              <a:t>pallets/itsdangerous @ </a:t>
            </a:r>
            <a:r>
              <a:rPr sz="900" b="0">
                <a:solidFill>
                  <a:srgbClr val="818CF8"/>
                </a:solidFill>
                <a:latin typeface="JetBrains Mono"/>
              </a:rPr>
              <a:t>4f2e1a</a:t>
            </a:r>
            <a:r>
              <a:rPr sz="900" b="0">
                <a:solidFill>
                  <a:srgbClr val="8A93A6"/>
                </a:solidFill>
                <a:latin typeface="JetBrains Mono"/>
              </a:rPr>
              <a:t> — 142 files, 892 functions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42 Start Here</a:t>
            </a:r>
            <a:r>
              <a:rPr sz="900" b="0">
                <a:solidFill>
                  <a:srgbClr val="8A93A6"/>
                </a:solidFill>
                <a:latin typeface="JetBrains Mono"/>
              </a:rPr>
              <a:t>  ·  </a:t>
            </a:r>
            <a:r>
              <a:rPr sz="900" b="1">
                <a:solidFill>
                  <a:srgbClr val="F43F5E"/>
                </a:solidFill>
                <a:latin typeface="JetBrains Mono"/>
              </a:rPr>
              <a:t>118 Here Be Dragons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480560"/>
            <a:ext cx="4937760" cy="13716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617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Your readiness for this repo</a:t>
            </a:r>
          </a:p>
        </p:txBody>
      </p:sp>
      <p:sp>
        <p:nvSpPr>
          <p:cNvPr id="32" name="Oval 31"/>
          <p:cNvSpPr/>
          <p:nvPr/>
        </p:nvSpPr>
        <p:spPr>
          <a:xfrm>
            <a:off x="1188720" y="4937760"/>
            <a:ext cx="685800" cy="685800"/>
          </a:xfrm>
          <a:prstGeom prst="ellipse">
            <a:avLst/>
          </a:prstGeom>
          <a:solidFill>
            <a:srgbClr val="12151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12064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93%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13892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6"/>
                </a:solidFill>
                <a:latin typeface="JetBrains Mono"/>
              </a:rPr>
              <a:t>0.40×skill overlap + 0.35×(1−risk) + 0.25×gap penalty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480560"/>
            <a:ext cx="4937760" cy="13716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17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Codebase Landmarks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937760"/>
            <a:ext cx="4572000" cy="32004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9834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18CF8"/>
                </a:solidFill>
                <a:latin typeface="JetBrains Mono"/>
              </a:rPr>
              <a:t>itsdangerous.serializer.Serializer.dumps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49834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6"/>
                </a:solidFill>
                <a:latin typeface="JetBrains Mono"/>
              </a:rPr>
              <a:t>142 callers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349240"/>
            <a:ext cx="4572000" cy="32004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3949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18CF8"/>
                </a:solidFill>
                <a:latin typeface="JetBrains Mono"/>
              </a:rPr>
              <a:t>itsdangerous.jws.JSONWebSignatureSerializer.dumps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3949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6"/>
                </a:solidFill>
                <a:latin typeface="JetBrains Mono"/>
              </a:rPr>
              <a:t>89 callers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3A6"/>
                </a:solidFill>
                <a:latin typeface="Arial"/>
              </a:rPr>
              <a:t>Real computed values — not a mock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JetBrains Mono"/>
              </a:rPr>
              <a:t>WHY THIS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Verifiable beats plausible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50592" cy="34747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2D3EE"/>
                </a:solidFill>
                <a:latin typeface="JetBrain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Falsifiable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4C9D4"/>
                </a:solidFill>
                <a:latin typeface="Arial"/>
              </a:rPr>
              <a:t>A live Trust Panel dashboard proves zero external API calls in real time. Outbound HTTP requests other than api.github.com shut down the session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450592" cy="34747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1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084FC"/>
                </a:solidFill>
                <a:latin typeface="JetBrains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1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Scope-Aware AST 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4C9D4"/>
                </a:solidFill>
                <a:latin typeface="Arial"/>
              </a:rPr>
              <a:t>McCabe complexity, test proximity, and transitive call-graphs are resolved locally, replacing black-box AI model guesses with deterministic proof.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828800"/>
            <a:ext cx="2450592" cy="34747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18CF8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PR-Ready Playbooks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4C9D4"/>
                </a:solidFill>
                <a:latin typeface="Arial"/>
              </a:rPr>
              <a:t>Auto-drafts introductory comments and developer playbooks using real git authorship, test-directory conventions, and caller 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828800"/>
            <a:ext cx="2450592" cy="34747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2103120"/>
            <a:ext cx="1993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0B981"/>
                </a:solidFill>
                <a:latin typeface="JetBrains Mon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2560320"/>
            <a:ext cx="1993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Local &amp; CPU 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3291840"/>
            <a:ext cx="1993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4C9D4"/>
                </a:solidFill>
                <a:latin typeface="Arial"/>
              </a:rPr>
              <a:t>Sentence-transformers and spaCy grammar pipelines are baked directly into the Docker image, running locally on CPU with zero network dependencies.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rial"/>
              </a:rPr>
              <a:t>IssueMatchAI  —  The static analysis compiler for human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